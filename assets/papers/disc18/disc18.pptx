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48"/>
  </p:notesMasterIdLst>
  <p:sldIdLst>
    <p:sldId id="256" r:id="rId2"/>
    <p:sldId id="258" r:id="rId3"/>
    <p:sldId id="444" r:id="rId4"/>
    <p:sldId id="414" r:id="rId5"/>
    <p:sldId id="384" r:id="rId6"/>
    <p:sldId id="448" r:id="rId7"/>
    <p:sldId id="449" r:id="rId8"/>
    <p:sldId id="327" r:id="rId9"/>
    <p:sldId id="425" r:id="rId10"/>
    <p:sldId id="328" r:id="rId11"/>
    <p:sldId id="329" r:id="rId12"/>
    <p:sldId id="330" r:id="rId13"/>
    <p:sldId id="331" r:id="rId14"/>
    <p:sldId id="332" r:id="rId15"/>
    <p:sldId id="333" r:id="rId16"/>
    <p:sldId id="351" r:id="rId17"/>
    <p:sldId id="430" r:id="rId18"/>
    <p:sldId id="427" r:id="rId19"/>
    <p:sldId id="429" r:id="rId20"/>
    <p:sldId id="431" r:id="rId21"/>
    <p:sldId id="447" r:id="rId22"/>
    <p:sldId id="432" r:id="rId23"/>
    <p:sldId id="392" r:id="rId24"/>
    <p:sldId id="440" r:id="rId25"/>
    <p:sldId id="437" r:id="rId26"/>
    <p:sldId id="438" r:id="rId27"/>
    <p:sldId id="361" r:id="rId28"/>
    <p:sldId id="382" r:id="rId29"/>
    <p:sldId id="404" r:id="rId30"/>
    <p:sldId id="441" r:id="rId31"/>
    <p:sldId id="442" r:id="rId32"/>
    <p:sldId id="405" r:id="rId33"/>
    <p:sldId id="406" r:id="rId34"/>
    <p:sldId id="395" r:id="rId35"/>
    <p:sldId id="396" r:id="rId36"/>
    <p:sldId id="445" r:id="rId37"/>
    <p:sldId id="401" r:id="rId38"/>
    <p:sldId id="402" r:id="rId39"/>
    <p:sldId id="446" r:id="rId40"/>
    <p:sldId id="397" r:id="rId41"/>
    <p:sldId id="315" r:id="rId42"/>
    <p:sldId id="399" r:id="rId43"/>
    <p:sldId id="434" r:id="rId44"/>
    <p:sldId id="380" r:id="rId45"/>
    <p:sldId id="435" r:id="rId46"/>
    <p:sldId id="433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tam" initials="y" lastIdx="0" clrIdx="0">
    <p:extLst>
      <p:ext uri="{19B8F6BF-5375-455C-9EA6-DF929625EA0E}">
        <p15:presenceInfo xmlns:p15="http://schemas.microsoft.com/office/powerpoint/2012/main" userId="yota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7590A7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76772" autoAdjust="0"/>
  </p:normalViewPr>
  <p:slideViewPr>
    <p:cSldViewPr snapToGrid="0">
      <p:cViewPr varScale="1">
        <p:scale>
          <a:sx n="52" d="100"/>
          <a:sy n="52" d="100"/>
        </p:scale>
        <p:origin x="1716" y="68"/>
      </p:cViewPr>
      <p:guideLst/>
    </p:cSldViewPr>
  </p:slideViewPr>
  <p:outlineViewPr>
    <p:cViewPr>
      <p:scale>
        <a:sx n="33" d="100"/>
        <a:sy n="33" d="100"/>
      </p:scale>
      <p:origin x="0" y="-35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760"/>
    </p:cViewPr>
  </p:sorterViewPr>
  <p:notesViewPr>
    <p:cSldViewPr snapToGrid="0">
      <p:cViewPr varScale="1">
        <p:scale>
          <a:sx n="53" d="100"/>
          <a:sy n="53" d="100"/>
        </p:scale>
        <p:origin x="2648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2BE04D-146D-46F8-98A9-6F0EAD47FCF4}" type="datetimeFigureOut">
              <a:rPr lang="en-US" smtClean="0"/>
              <a:t>15-Oct-18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A4574-660D-4DA8-AED8-24003F4BC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7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Unlike the other talks in this session, I’m going</a:t>
            </a:r>
            <a:r>
              <a:rPr lang="en-US" baseline="0" dirty="0" smtClean="0"/>
              <a:t> to focus on the problem of doing proofs,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err="1" smtClean="0"/>
              <a:t>Linearizability</a:t>
            </a:r>
            <a:r>
              <a:rPr lang="en-US" baseline="0" dirty="0" smtClean="0"/>
              <a:t> proofs of highly concurrent data structures,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And I’m going to talk about proofs because they are very important but are very also very hard to do.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159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Proofs become</a:t>
            </a:r>
            <a:r>
              <a:rPr lang="en-US" baseline="0" dirty="0" smtClean="0"/>
              <a:t> harder when the data structure become more sophisticated.</a:t>
            </a:r>
          </a:p>
          <a:p>
            <a:r>
              <a:rPr lang="en-US" baseline="0" dirty="0" smtClean="0"/>
              <a:t>In optimistic and lock-free designs, certain operations are performed with minimal synchronization or without taking locks</a:t>
            </a:r>
          </a:p>
          <a:p>
            <a:endParaRPr lang="en-US" b="0" dirty="0" smtClean="0"/>
          </a:p>
          <a:p>
            <a:r>
              <a:rPr lang="en-US" b="0" baseline="0" dirty="0" smtClean="0"/>
              <a:t>Examples include the famous lazy list, lock free </a:t>
            </a:r>
            <a:r>
              <a:rPr lang="en-US" b="0" baseline="0" dirty="0" err="1" smtClean="0"/>
              <a:t>skiplists</a:t>
            </a:r>
            <a:r>
              <a:rPr lang="en-US" b="0" baseline="0" dirty="0" smtClean="0"/>
              <a:t> and many self balancing binary trees.</a:t>
            </a:r>
          </a:p>
          <a:p>
            <a:endParaRPr lang="en-US" b="0" baseline="0" dirty="0" smtClean="0"/>
          </a:p>
          <a:p>
            <a:r>
              <a:rPr lang="en-US" b="0" baseline="0" dirty="0" smtClean="0"/>
              <a:t>Minimizing synchronization is very good for performance,</a:t>
            </a:r>
          </a:p>
          <a:p>
            <a:r>
              <a:rPr lang="en-US" b="0" baseline="0" dirty="0" smtClean="0"/>
              <a:t>But it makes proofs much harder.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11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this</a:t>
            </a:r>
            <a:r>
              <a:rPr lang="en-US" baseline="0" dirty="0" smtClean="0"/>
              <a:t> work </a:t>
            </a:r>
          </a:p>
          <a:p>
            <a:r>
              <a:rPr lang="en-US" b="1" baseline="0" dirty="0" smtClean="0"/>
              <a:t>we identify </a:t>
            </a:r>
            <a:r>
              <a:rPr lang="en-US" baseline="0" dirty="0" smtClean="0"/>
              <a:t>the problem of </a:t>
            </a:r>
            <a:r>
              <a:rPr lang="en-US" b="1" baseline="0" dirty="0" smtClean="0"/>
              <a:t>lock-free traversals</a:t>
            </a:r>
            <a:r>
              <a:rPr lang="en-US" b="0" baseline="0" dirty="0" smtClean="0"/>
              <a:t> as the key challenge in the </a:t>
            </a:r>
            <a:r>
              <a:rPr lang="en-US" b="0" baseline="0" dirty="0" err="1" smtClean="0"/>
              <a:t>linearizability</a:t>
            </a:r>
            <a:r>
              <a:rPr lang="en-US" b="0" baseline="0" dirty="0" smtClean="0"/>
              <a:t> proofs of such data structures,</a:t>
            </a:r>
          </a:p>
          <a:p>
            <a:r>
              <a:rPr lang="en-US" b="0" baseline="0" dirty="0" smtClean="0"/>
              <a:t>The lock free traversal is the most challenging element of the proofs.</a:t>
            </a:r>
          </a:p>
          <a:p>
            <a:r>
              <a:rPr lang="en-US" b="1" baseline="0" dirty="0" smtClean="0"/>
              <a:t>And</a:t>
            </a:r>
          </a:p>
          <a:p>
            <a:r>
              <a:rPr lang="en-US" b="1" baseline="0" dirty="0" smtClean="0"/>
              <a:t>We tackle</a:t>
            </a:r>
            <a:r>
              <a:rPr lang="en-US" b="0" baseline="0" dirty="0" smtClean="0"/>
              <a:t> this challenge by developing a new proof technique which proves correctness of concurrent traversals from the correctness of sequential traversals,</a:t>
            </a:r>
          </a:p>
          <a:p>
            <a:r>
              <a:rPr lang="en-US" b="1" baseline="0" dirty="0" smtClean="0"/>
              <a:t>Which gives a much simpler proof </a:t>
            </a:r>
            <a:r>
              <a:rPr lang="en-US" b="0" baseline="0" dirty="0" smtClean="0"/>
              <a:t>of concurrent data structures.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16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Let’s look at</a:t>
            </a:r>
            <a:r>
              <a:rPr lang="en-US" baseline="0" dirty="0" smtClean="0"/>
              <a:t> an example of a challenging data structure whose proof can be greatly simplified with our proof method,</a:t>
            </a:r>
          </a:p>
          <a:p>
            <a:endParaRPr lang="en-US" baseline="0" dirty="0" smtClean="0"/>
          </a:p>
          <a:p>
            <a:r>
              <a:rPr lang="en-US" baseline="0" dirty="0" smtClean="0"/>
              <a:t>Very briefly, a binary tree with lazy synchronization --- here based on the contention-friendly tree ---</a:t>
            </a:r>
          </a:p>
          <a:p>
            <a:r>
              <a:rPr lang="en-US" baseline="0" dirty="0" smtClean="0"/>
              <a:t>Is a binary tree,</a:t>
            </a:r>
          </a:p>
          <a:p>
            <a:r>
              <a:rPr lang="en-US" baseline="0" dirty="0" smtClean="0"/>
              <a:t>…</a:t>
            </a:r>
          </a:p>
          <a:p>
            <a:endParaRPr lang="en-US" baseline="0" dirty="0" smtClean="0"/>
          </a:p>
          <a:p>
            <a:r>
              <a:rPr lang="en-US" baseline="0" dirty="0" smtClean="0"/>
              <a:t>The important part for the rest of the presentation is the fact that the traversal does not take 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41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 smtClean="0">
                <a:effectLst/>
              </a:rPr>
              <a:t>We now want to prove that the tree is </a:t>
            </a:r>
            <a:r>
              <a:rPr lang="en-US" dirty="0" err="1" smtClean="0">
                <a:effectLst/>
              </a:rPr>
              <a:t>linearizable</a:t>
            </a:r>
            <a:r>
              <a:rPr lang="en-US" dirty="0" smtClean="0">
                <a:effectLst/>
              </a:rPr>
              <a:t> </a:t>
            </a:r>
            <a:r>
              <a:rPr lang="en-US" dirty="0" err="1" smtClean="0">
                <a:effectLst/>
              </a:rPr>
              <a:t>wrt</a:t>
            </a:r>
            <a:r>
              <a:rPr lang="en-US" dirty="0" smtClean="0">
                <a:effectLst/>
              </a:rPr>
              <a:t>. set operations.</a:t>
            </a:r>
          </a:p>
          <a:p>
            <a:pPr rtl="0"/>
            <a:r>
              <a:rPr lang="en-US" dirty="0" smtClean="0">
                <a:effectLst/>
              </a:rPr>
              <a:t>For</a:t>
            </a:r>
            <a:r>
              <a:rPr lang="en-US" baseline="0" dirty="0" smtClean="0">
                <a:effectLst/>
              </a:rPr>
              <a:t> this we take the following representation function, mapping a tree to a set of keys it represents.</a:t>
            </a:r>
          </a:p>
          <a:p>
            <a:pPr rtl="0"/>
            <a:r>
              <a:rPr lang="en-US" baseline="0" dirty="0" smtClean="0">
                <a:effectLst/>
              </a:rPr>
              <a:t>The linearization point of modifying operations will be the single write that modifies this set.</a:t>
            </a:r>
          </a:p>
          <a:p>
            <a:pPr rtl="0"/>
            <a:endParaRPr lang="en-US" baseline="0" dirty="0" smtClean="0">
              <a:effectLst/>
            </a:endParaRPr>
          </a:p>
          <a:p>
            <a:pPr rtl="0"/>
            <a:r>
              <a:rPr lang="en-US" baseline="0" dirty="0" smtClean="0">
                <a:effectLst/>
              </a:rPr>
              <a:t>Now the representation function says that key is in the tree if a search path --- going … --- reaches a node which holds that key.</a:t>
            </a:r>
          </a:p>
          <a:p>
            <a:pPr rtl="0"/>
            <a:endParaRPr lang="en-US" baseline="0" dirty="0" smtClean="0">
              <a:effectLst/>
            </a:endParaRPr>
          </a:p>
          <a:p>
            <a:pPr rtl="0"/>
            <a:r>
              <a:rPr lang="en-US" baseline="0" dirty="0" smtClean="0">
                <a:effectLst/>
              </a:rPr>
              <a:t>We now need to prove that operations act as they should according to the represented set.</a:t>
            </a:r>
          </a:p>
          <a:p>
            <a:pPr rtl="0"/>
            <a:r>
              <a:rPr lang="en-US" baseline="0" dirty="0" smtClean="0">
                <a:effectLst/>
              </a:rPr>
              <a:t>So for contains we must prove that it returns true </a:t>
            </a:r>
            <a:r>
              <a:rPr lang="en-US" baseline="0" dirty="0" err="1" smtClean="0">
                <a:effectLst/>
              </a:rPr>
              <a:t>iff</a:t>
            </a:r>
            <a:r>
              <a:rPr lang="en-US" baseline="0" dirty="0" smtClean="0">
                <a:effectLst/>
              </a:rPr>
              <a:t> at some point during its execution there’s such a path to the key of interest,</a:t>
            </a:r>
          </a:p>
          <a:p>
            <a:pPr rtl="0"/>
            <a:r>
              <a:rPr lang="en-US" baseline="0" dirty="0" smtClean="0">
                <a:effectLst/>
              </a:rPr>
              <a:t>And for insert/…, that they …</a:t>
            </a:r>
          </a:p>
          <a:p>
            <a:pPr rtl="0"/>
            <a:endParaRPr lang="en-US" baseline="0" dirty="0" smtClean="0">
              <a:effectLst/>
            </a:endParaRPr>
          </a:p>
          <a:p>
            <a:pPr rtl="0"/>
            <a:r>
              <a:rPr lang="en-US" baseline="0" dirty="0" smtClean="0">
                <a:effectLst/>
              </a:rPr>
              <a:t>The critical point is that search paths which the representation function uses, they depend on the entire tree and not just a single location in memory, which of course the algorithm doesn’t see in a single atomic instruction.</a:t>
            </a:r>
          </a:p>
          <a:p>
            <a:pPr rtl="0"/>
            <a:r>
              <a:rPr lang="en-US" baseline="0" dirty="0" smtClean="0">
                <a:effectLst/>
              </a:rPr>
              <a:t>Instead they traverse the tree.</a:t>
            </a:r>
          </a:p>
          <a:p>
            <a:pPr rtl="0"/>
            <a:r>
              <a:rPr lang="en-US" baseline="0" dirty="0" smtClean="0">
                <a:effectLst/>
              </a:rPr>
              <a:t>So to prove correctness of operations we need to show that they traverse correctly.</a:t>
            </a:r>
          </a:p>
          <a:p>
            <a:pPr rtl="0"/>
            <a:r>
              <a:rPr lang="en-US" baseline="0" dirty="0" smtClean="0">
                <a:effectLst/>
              </a:rPr>
              <a:t>This is hard when the traversals go over all the different memory locations in the tree </a:t>
            </a:r>
            <a:r>
              <a:rPr lang="en-US" b="1" baseline="0" dirty="0" smtClean="0">
                <a:effectLst/>
              </a:rPr>
              <a:t>without tacking locks, </a:t>
            </a:r>
            <a:r>
              <a:rPr lang="en-US" b="0" baseline="0" dirty="0" smtClean="0">
                <a:effectLst/>
              </a:rPr>
              <a:t>because there’s lots of possible interference in between the traversal’s reads.</a:t>
            </a:r>
            <a:endParaRPr lang="he-IL" dirty="0" smtClean="0">
              <a:effectLst/>
            </a:endParaRPr>
          </a:p>
          <a:p>
            <a:endParaRPr lang="he-IL" dirty="0" smtClean="0">
              <a:effectLst/>
            </a:endParaRPr>
          </a:p>
          <a:p>
            <a:endParaRPr lang="he-IL" dirty="0" smtClean="0">
              <a:effectLst/>
            </a:endParaRPr>
          </a:p>
          <a:p>
            <a:r>
              <a:rPr lang="en-US" dirty="0" smtClean="0">
                <a:effectLst/>
              </a:rPr>
              <a:t>\</a:t>
            </a:r>
            <a:r>
              <a:rPr lang="en-US" dirty="0" err="1" smtClean="0">
                <a:effectLst/>
              </a:rPr>
              <a:t>mathcal</a:t>
            </a:r>
            <a:r>
              <a:rPr lang="en-US" dirty="0" smtClean="0">
                <a:effectLst/>
              </a:rPr>
              <a:t>{A}(H) = \{k \in \</a:t>
            </a:r>
            <a:r>
              <a:rPr lang="en-US" dirty="0" err="1" smtClean="0">
                <a:effectLst/>
              </a:rPr>
              <a:t>mathbb</a:t>
            </a:r>
            <a:r>
              <a:rPr lang="en-US" dirty="0" smtClean="0">
                <a:effectLst/>
              </a:rPr>
              <a:t>{N} \ | \ \exists x. \ \text{root} \overset{k}\</a:t>
            </a:r>
            <a:r>
              <a:rPr lang="en-US" dirty="0" err="1" smtClean="0">
                <a:effectLst/>
              </a:rPr>
              <a:t>leadsto</a:t>
            </a:r>
            <a:r>
              <a:rPr lang="en-US" dirty="0" smtClean="0">
                <a:effectLst/>
              </a:rPr>
              <a:t> x \wedge x.\</a:t>
            </a:r>
            <a:r>
              <a:rPr lang="en-US" dirty="0" err="1" smtClean="0">
                <a:effectLst/>
              </a:rPr>
              <a:t>textit</a:t>
            </a:r>
            <a:r>
              <a:rPr lang="en-US" dirty="0" smtClean="0">
                <a:effectLst/>
              </a:rPr>
              <a:t>{key} = k \wedge \</a:t>
            </a:r>
            <a:r>
              <a:rPr lang="en-US" dirty="0" err="1" smtClean="0">
                <a:effectLst/>
              </a:rPr>
              <a:t>neg</a:t>
            </a:r>
            <a:r>
              <a:rPr lang="en-US" dirty="0" smtClean="0">
                <a:effectLst/>
              </a:rPr>
              <a:t> x.\</a:t>
            </a:r>
            <a:r>
              <a:rPr lang="en-US" dirty="0" err="1" smtClean="0">
                <a:effectLst/>
              </a:rPr>
              <a:t>textit</a:t>
            </a:r>
            <a:r>
              <a:rPr lang="en-US" dirty="0" smtClean="0">
                <a:effectLst/>
              </a:rPr>
              <a:t>{del} \}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62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 smtClean="0">
                <a:effectLst/>
              </a:rPr>
              <a:t>We now want to prove that the tree is </a:t>
            </a:r>
            <a:r>
              <a:rPr lang="en-US" dirty="0" err="1" smtClean="0">
                <a:effectLst/>
              </a:rPr>
              <a:t>linearizable</a:t>
            </a:r>
            <a:r>
              <a:rPr lang="en-US" dirty="0" smtClean="0">
                <a:effectLst/>
              </a:rPr>
              <a:t> </a:t>
            </a:r>
            <a:r>
              <a:rPr lang="en-US" dirty="0" err="1" smtClean="0">
                <a:effectLst/>
              </a:rPr>
              <a:t>wrt</a:t>
            </a:r>
            <a:r>
              <a:rPr lang="en-US" dirty="0" smtClean="0">
                <a:effectLst/>
              </a:rPr>
              <a:t>. set operations.</a:t>
            </a:r>
          </a:p>
          <a:p>
            <a:pPr rtl="0"/>
            <a:r>
              <a:rPr lang="en-US" dirty="0" smtClean="0">
                <a:effectLst/>
              </a:rPr>
              <a:t>For</a:t>
            </a:r>
            <a:r>
              <a:rPr lang="en-US" baseline="0" dirty="0" smtClean="0">
                <a:effectLst/>
              </a:rPr>
              <a:t> this we take the following representation function, mapping a tree to a set of keys it represents.</a:t>
            </a:r>
          </a:p>
          <a:p>
            <a:pPr rtl="0"/>
            <a:r>
              <a:rPr lang="en-US" baseline="0" dirty="0" smtClean="0">
                <a:effectLst/>
              </a:rPr>
              <a:t>The linearization point of modifying operations will be the single write that modifies this set.</a:t>
            </a:r>
          </a:p>
          <a:p>
            <a:pPr rtl="0"/>
            <a:endParaRPr lang="en-US" baseline="0" dirty="0" smtClean="0">
              <a:effectLst/>
            </a:endParaRPr>
          </a:p>
          <a:p>
            <a:pPr rtl="0"/>
            <a:r>
              <a:rPr lang="en-US" baseline="0" dirty="0" smtClean="0">
                <a:effectLst/>
              </a:rPr>
              <a:t>Now the representation function says that key is in the tree if a search path --- going … --- reaches a node which holds that key.</a:t>
            </a:r>
          </a:p>
          <a:p>
            <a:pPr rtl="0"/>
            <a:endParaRPr lang="en-US" baseline="0" dirty="0" smtClean="0">
              <a:effectLst/>
            </a:endParaRPr>
          </a:p>
          <a:p>
            <a:pPr rtl="0"/>
            <a:r>
              <a:rPr lang="en-US" baseline="0" dirty="0" smtClean="0">
                <a:effectLst/>
              </a:rPr>
              <a:t>We now need to prove that operations act as they should according to the represented set.</a:t>
            </a:r>
          </a:p>
          <a:p>
            <a:pPr rtl="0"/>
            <a:r>
              <a:rPr lang="en-US" baseline="0" dirty="0" smtClean="0">
                <a:effectLst/>
              </a:rPr>
              <a:t>So for contains we must prove that it returns true </a:t>
            </a:r>
            <a:r>
              <a:rPr lang="en-US" baseline="0" dirty="0" err="1" smtClean="0">
                <a:effectLst/>
              </a:rPr>
              <a:t>iff</a:t>
            </a:r>
            <a:r>
              <a:rPr lang="en-US" baseline="0" dirty="0" smtClean="0">
                <a:effectLst/>
              </a:rPr>
              <a:t> at some point during its execution there’s such a path to the key of interest,</a:t>
            </a:r>
          </a:p>
          <a:p>
            <a:pPr rtl="0"/>
            <a:r>
              <a:rPr lang="en-US" baseline="0" dirty="0" smtClean="0">
                <a:effectLst/>
              </a:rPr>
              <a:t>And for insert/…, that they …</a:t>
            </a:r>
          </a:p>
          <a:p>
            <a:pPr rtl="0"/>
            <a:endParaRPr lang="en-US" baseline="0" dirty="0" smtClean="0">
              <a:effectLst/>
            </a:endParaRPr>
          </a:p>
          <a:p>
            <a:pPr rtl="0"/>
            <a:r>
              <a:rPr lang="en-US" baseline="0" dirty="0" smtClean="0">
                <a:effectLst/>
              </a:rPr>
              <a:t>The critical point is that search paths which the representation function uses, they depend on the entire tree and not just a single location in memory, which of course the algorithm doesn’t see in a single atomic instruction.</a:t>
            </a:r>
          </a:p>
          <a:p>
            <a:pPr rtl="0"/>
            <a:r>
              <a:rPr lang="en-US" baseline="0" dirty="0" smtClean="0">
                <a:effectLst/>
              </a:rPr>
              <a:t>Instead they traverse the tree.</a:t>
            </a:r>
          </a:p>
          <a:p>
            <a:pPr rtl="0"/>
            <a:r>
              <a:rPr lang="en-US" baseline="0" dirty="0" smtClean="0">
                <a:effectLst/>
              </a:rPr>
              <a:t>So to prove correctness of operations we need to show that they traverse correctly.</a:t>
            </a:r>
          </a:p>
          <a:p>
            <a:pPr rtl="0"/>
            <a:r>
              <a:rPr lang="en-US" baseline="0" dirty="0" smtClean="0">
                <a:effectLst/>
              </a:rPr>
              <a:t>This is hard when the traversals go over all the different memory locations in the tree </a:t>
            </a:r>
            <a:r>
              <a:rPr lang="en-US" b="1" baseline="0" dirty="0" smtClean="0">
                <a:effectLst/>
              </a:rPr>
              <a:t>without tacking locks, </a:t>
            </a:r>
            <a:r>
              <a:rPr lang="en-US" b="0" baseline="0" dirty="0" smtClean="0">
                <a:effectLst/>
              </a:rPr>
              <a:t>because there’s lots of possible interference in between the traversal’s reads.</a:t>
            </a:r>
            <a:endParaRPr lang="he-IL" dirty="0" smtClean="0">
              <a:effectLst/>
            </a:endParaRPr>
          </a:p>
          <a:p>
            <a:endParaRPr lang="he-IL" dirty="0" smtClean="0">
              <a:effectLst/>
            </a:endParaRPr>
          </a:p>
          <a:p>
            <a:endParaRPr lang="he-IL" dirty="0" smtClean="0">
              <a:effectLst/>
            </a:endParaRPr>
          </a:p>
          <a:p>
            <a:r>
              <a:rPr lang="en-US" dirty="0" smtClean="0">
                <a:effectLst/>
              </a:rPr>
              <a:t>\</a:t>
            </a:r>
            <a:r>
              <a:rPr lang="en-US" dirty="0" err="1" smtClean="0">
                <a:effectLst/>
              </a:rPr>
              <a:t>mathcal</a:t>
            </a:r>
            <a:r>
              <a:rPr lang="en-US" dirty="0" smtClean="0">
                <a:effectLst/>
              </a:rPr>
              <a:t>{A}(H) = \{k \in \</a:t>
            </a:r>
            <a:r>
              <a:rPr lang="en-US" dirty="0" err="1" smtClean="0">
                <a:effectLst/>
              </a:rPr>
              <a:t>mathbb</a:t>
            </a:r>
            <a:r>
              <a:rPr lang="en-US" dirty="0" smtClean="0">
                <a:effectLst/>
              </a:rPr>
              <a:t>{N} \ | \ \exists x. \ \text{root} \overset{k}\</a:t>
            </a:r>
            <a:r>
              <a:rPr lang="en-US" dirty="0" err="1" smtClean="0">
                <a:effectLst/>
              </a:rPr>
              <a:t>leadsto</a:t>
            </a:r>
            <a:r>
              <a:rPr lang="en-US" dirty="0" smtClean="0">
                <a:effectLst/>
              </a:rPr>
              <a:t> x \wedge x.\</a:t>
            </a:r>
            <a:r>
              <a:rPr lang="en-US" dirty="0" err="1" smtClean="0">
                <a:effectLst/>
              </a:rPr>
              <a:t>textit</a:t>
            </a:r>
            <a:r>
              <a:rPr lang="en-US" dirty="0" smtClean="0">
                <a:effectLst/>
              </a:rPr>
              <a:t>{key} = k \wedge \</a:t>
            </a:r>
            <a:r>
              <a:rPr lang="en-US" dirty="0" err="1" smtClean="0">
                <a:effectLst/>
              </a:rPr>
              <a:t>neg</a:t>
            </a:r>
            <a:r>
              <a:rPr lang="en-US" dirty="0" smtClean="0">
                <a:effectLst/>
              </a:rPr>
              <a:t> x.\</a:t>
            </a:r>
            <a:r>
              <a:rPr lang="en-US" dirty="0" err="1" smtClean="0">
                <a:effectLst/>
              </a:rPr>
              <a:t>textit</a:t>
            </a:r>
            <a:r>
              <a:rPr lang="en-US" dirty="0" smtClean="0">
                <a:effectLst/>
              </a:rPr>
              <a:t>{del} \}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17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As</a:t>
            </a:r>
            <a:r>
              <a:rPr lang="en-US" b="1" baseline="0" dirty="0" smtClean="0"/>
              <a:t> an example of why reasoning about traversals is hard</a:t>
            </a:r>
            <a:r>
              <a:rPr lang="en-US" baseline="0" dirty="0" smtClean="0"/>
              <a:t>, consider this binary tree,</a:t>
            </a:r>
          </a:p>
          <a:p>
            <a:r>
              <a:rPr lang="en-US" baseline="0" dirty="0" smtClean="0"/>
              <a:t>And a thread starting to traverse it in order to answer whether it contains(3).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78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On the right is what happens in real</a:t>
            </a:r>
            <a:r>
              <a:rPr lang="en-US" baseline="0" dirty="0" smtClean="0"/>
              <a:t> memory, while on the left is what the thread reads/sees.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Dichotomy between the local view and the concrete heap</a:t>
            </a:r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96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Dichotomy between the local view and the concrete heap</a:t>
            </a:r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3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Dichotomy between the local view and the concrete heap</a:t>
            </a:r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57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Dichotomy between the local view and the concrete heap</a:t>
            </a:r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43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Dichotomy between the local view and the concrete heap</a:t>
            </a:r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800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Dichotomy between the local view and the concrete heap</a:t>
            </a:r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33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Dichotomy between the local view and the concrete heap</a:t>
            </a:r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78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Want to think about a path from the root in actual memory, but can't do this because everything constantly changes</a:t>
            </a:r>
          </a:p>
          <a:p>
            <a:r>
              <a:rPr lang="en-US" b="0" dirty="0" smtClean="0"/>
              <a:t>Emphasize</a:t>
            </a:r>
            <a:r>
              <a:rPr lang="en-US" b="0" baseline="0" dirty="0" smtClean="0"/>
              <a:t> that </a:t>
            </a:r>
            <a:r>
              <a:rPr lang="en-US" b="1" baseline="0" dirty="0" smtClean="0"/>
              <a:t>false is correct here</a:t>
            </a:r>
            <a:endParaRPr lang="en-US" b="0" dirty="0" smtClean="0"/>
          </a:p>
          <a:p>
            <a:endParaRPr lang="en-US" dirty="0" smtClean="0"/>
          </a:p>
          <a:p>
            <a:r>
              <a:rPr lang="en-US" dirty="0" smtClean="0"/>
              <a:t>_______</a:t>
            </a:r>
          </a:p>
          <a:p>
            <a:endParaRPr lang="en-US" dirty="0" smtClean="0"/>
          </a:p>
          <a:p>
            <a:r>
              <a:rPr lang="en-US" dirty="0" smtClean="0"/>
              <a:t>The local view</a:t>
            </a:r>
            <a:r>
              <a:rPr lang="en-US" baseline="0" dirty="0" smtClean="0"/>
              <a:t> is accumulated over several time steps, inconsistent with any snapshot of the concrete heap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190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Want to think about a path from the root in actual memory, but can't do this because everything constantly changes</a:t>
            </a:r>
          </a:p>
          <a:p>
            <a:endParaRPr lang="en-US" dirty="0" smtClean="0"/>
          </a:p>
          <a:p>
            <a:r>
              <a:rPr lang="en-US" dirty="0" smtClean="0"/>
              <a:t>_______</a:t>
            </a:r>
          </a:p>
          <a:p>
            <a:endParaRPr lang="en-US" dirty="0" smtClean="0"/>
          </a:p>
          <a:p>
            <a:r>
              <a:rPr lang="en-US" dirty="0" smtClean="0"/>
              <a:t>The local view</a:t>
            </a:r>
            <a:r>
              <a:rPr lang="en-US" baseline="0" dirty="0" smtClean="0"/>
              <a:t> is accumulated over several time steps, inconsistent with any snapshot of the concrete heap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08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Want to think about a path from the root in actual memory, but can't do this because everything constantly changes</a:t>
            </a:r>
          </a:p>
          <a:p>
            <a:endParaRPr lang="en-US" dirty="0" smtClean="0"/>
          </a:p>
          <a:p>
            <a:r>
              <a:rPr lang="en-US" dirty="0" smtClean="0"/>
              <a:t>_______</a:t>
            </a:r>
          </a:p>
          <a:p>
            <a:endParaRPr lang="en-US" dirty="0" smtClean="0"/>
          </a:p>
          <a:p>
            <a:r>
              <a:rPr lang="en-US" dirty="0" smtClean="0"/>
              <a:t>The local view</a:t>
            </a:r>
            <a:r>
              <a:rPr lang="en-US" baseline="0" dirty="0" smtClean="0"/>
              <a:t> is accumulated over several time steps, inconsistent with any snapshot of the concrete heap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1604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If you think about insert, now we are going to insert a new value in the</a:t>
            </a:r>
            <a:r>
              <a:rPr lang="en-US" baseline="0" dirty="0" smtClean="0"/>
              <a:t> memory location we’re reached,</a:t>
            </a:r>
          </a:p>
          <a:p>
            <a:r>
              <a:rPr lang="en-US" baseline="0" dirty="0" smtClean="0"/>
              <a:t>Although we don’t know much about the global state at this point and rely on the traversal’s correctness to put us in the right place.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_______</a:t>
            </a:r>
          </a:p>
          <a:p>
            <a:endParaRPr lang="en-US" dirty="0" smtClean="0"/>
          </a:p>
          <a:p>
            <a:r>
              <a:rPr lang="en-US" dirty="0" smtClean="0"/>
              <a:t>The local view</a:t>
            </a:r>
            <a:r>
              <a:rPr lang="en-US" baseline="0" dirty="0" smtClean="0"/>
              <a:t> is accumulated over several time steps, inconsistent with any snapshot of the concrete heap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628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TODO: change predicate to -&gt; x</a:t>
            </a:r>
          </a:p>
          <a:p>
            <a:endParaRPr lang="en-US" dirty="0" smtClean="0"/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5812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TODO: change predicate to -&gt; x</a:t>
            </a:r>
          </a:p>
          <a:p>
            <a:endParaRPr lang="en-US" dirty="0" smtClean="0"/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19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TODO: change predicate to -&gt; x</a:t>
            </a:r>
          </a:p>
          <a:p>
            <a:endParaRPr lang="en-US" dirty="0" smtClean="0"/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881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TODO: change predicate to -&gt; x</a:t>
            </a:r>
          </a:p>
          <a:p>
            <a:endParaRPr lang="en-US" dirty="0" smtClean="0"/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477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TODO: change predicate to -&gt; x</a:t>
            </a:r>
          </a:p>
          <a:p>
            <a:endParaRPr lang="en-US" dirty="0" smtClean="0"/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431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TODO: change predicate to -&gt; x</a:t>
            </a:r>
          </a:p>
          <a:p>
            <a:endParaRPr lang="en-US" dirty="0" smtClean="0"/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93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TODO: change predicate to -&gt; x</a:t>
            </a:r>
          </a:p>
          <a:p>
            <a:endParaRPr lang="en-US" dirty="0" smtClean="0"/>
          </a:p>
          <a:p>
            <a:r>
              <a:rPr lang="en-US" dirty="0" smtClean="0"/>
              <a:t>Computation is on the local view, need to argue that it holds on the concrete view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A4574-660D-4DA8-AED8-24003F4BC28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98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6B3F8-8A5B-4753-9EAC-FD867B78F48B}" type="datetime1">
              <a:rPr lang="en-US" smtClean="0"/>
              <a:t>15-Oct-18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B4EA-3A18-4931-80A2-5D8010BA7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89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D89BC-DE01-4127-8793-61FA115511AD}" type="datetime1">
              <a:rPr lang="en-US" smtClean="0"/>
              <a:t>15-Oct-18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B4EA-3A18-4931-80A2-5D8010BA7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15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DC3DE-C7D9-4336-AEB1-8157BB2EB2F5}" type="datetime1">
              <a:rPr lang="en-US" smtClean="0"/>
              <a:t>15-Oct-18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B4EA-3A18-4931-80A2-5D8010BA7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35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FFE0D-9D76-4D6E-B6E4-6A456E5AACD3}" type="datetime1">
              <a:rPr lang="en-US" smtClean="0"/>
              <a:t>15-Oct-18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B4EA-3A18-4931-80A2-5D8010BA7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50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3BF6B-9710-4534-AB2B-10815DC0B79A}" type="datetime1">
              <a:rPr lang="en-US" smtClean="0"/>
              <a:t>15-Oct-18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B4EA-3A18-4931-80A2-5D8010BA7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00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B8420-DF17-45B3-B3E0-EE68881FF747}" type="datetime1">
              <a:rPr lang="en-US" smtClean="0"/>
              <a:t>15-Oct-18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B4EA-3A18-4931-80A2-5D8010BA7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28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838F-55A3-4315-A37F-9AB9F92A787A}" type="datetime1">
              <a:rPr lang="en-US" smtClean="0"/>
              <a:t>15-Oct-18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B4EA-3A18-4931-80A2-5D8010BA7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11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A63F-F5EF-4F2E-86CC-44FB942D756A}" type="datetime1">
              <a:rPr lang="en-US" smtClean="0"/>
              <a:t>15-Oct-18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B4EA-3A18-4931-80A2-5D8010BA7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2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023C-E6FA-40BF-A574-403A1463DE5A}" type="datetime1">
              <a:rPr lang="en-US" smtClean="0"/>
              <a:t>15-Oct-18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B4EA-3A18-4931-80A2-5D8010BA7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45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7F3E-767B-4A2C-A86A-1913FE202779}" type="datetime1">
              <a:rPr lang="en-US" smtClean="0"/>
              <a:t>15-Oct-18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B4EA-3A18-4931-80A2-5D8010BA7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83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DA07-2755-4BCD-95A6-0905C100F6E6}" type="datetime1">
              <a:rPr lang="en-US" smtClean="0"/>
              <a:t>15-Oct-18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B4EA-3A18-4931-80A2-5D8010BA7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6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6847D-30E2-45AB-8388-3902B1DE6BB0}" type="datetime1">
              <a:rPr lang="en-US" smtClean="0"/>
              <a:t>15-Oct-18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2B4EA-3A18-4931-80A2-5D8010BA7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56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0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0" Type="http://schemas.openxmlformats.org/officeDocument/2006/relationships/image" Target="../media/image37.png"/><Relationship Id="rId9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0" Type="http://schemas.openxmlformats.org/officeDocument/2006/relationships/image" Target="../media/image37.png"/><Relationship Id="rId9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twitter.com/intent/tweet?url=http://doi.acm.org/10.1145/1835698.1835722&amp;text=%22Verifying+linearizability+with+hindsight.%22&amp;hashtags=dblp&amp;related=dblp_or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witter.com/intent/tweet?url=https://doi.org/10.1007/978-3-662-48653-5_24&amp;text=%22A+Constructive+Approach+for+Proving+Data+Structures'+Linearizability.%22&amp;hashtags=dblp&amp;related=dblp_org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39528"/>
            <a:ext cx="7976937" cy="1267276"/>
          </a:xfrm>
        </p:spPr>
        <p:txBody>
          <a:bodyPr>
            <a:normAutofit fontScale="90000"/>
          </a:bodyPr>
          <a:lstStyle/>
          <a:p>
            <a:r>
              <a:rPr lang="en-US" sz="4200" dirty="0" smtClean="0"/>
              <a:t>Order out of Chaos:</a:t>
            </a:r>
            <a:br>
              <a:rPr lang="en-US" sz="4200" dirty="0" smtClean="0"/>
            </a:br>
            <a:r>
              <a:rPr lang="en-US" sz="4200" dirty="0" smtClean="0"/>
              <a:t>Proving </a:t>
            </a:r>
            <a:r>
              <a:rPr lang="en-US" sz="4200" dirty="0" err="1" smtClean="0"/>
              <a:t>Linearizability</a:t>
            </a:r>
            <a:r>
              <a:rPr lang="en-US" sz="4200" dirty="0" smtClean="0"/>
              <a:t> Using Local Views</a:t>
            </a:r>
            <a:endParaRPr lang="en-US" sz="4200" dirty="0"/>
          </a:p>
        </p:txBody>
      </p:sp>
      <p:sp>
        <p:nvSpPr>
          <p:cNvPr id="4" name="TextBox 3"/>
          <p:cNvSpPr txBox="1"/>
          <p:nvPr/>
        </p:nvSpPr>
        <p:spPr>
          <a:xfrm>
            <a:off x="1963554" y="4052236"/>
            <a:ext cx="23100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Noam </a:t>
            </a:r>
            <a:r>
              <a:rPr lang="en-US" sz="2400" dirty="0" err="1" smtClean="0"/>
              <a:t>Rinetzky</a:t>
            </a:r>
            <a:endParaRPr lang="en-US" sz="2400" dirty="0" smtClean="0"/>
          </a:p>
          <a:p>
            <a:pPr algn="ctr"/>
            <a:r>
              <a:rPr lang="en-US" dirty="0" smtClean="0"/>
              <a:t>Tel Aviv University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135879" y="4052235"/>
            <a:ext cx="23100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Sharon </a:t>
            </a:r>
            <a:r>
              <a:rPr lang="en-US" sz="2400" dirty="0" err="1" smtClean="0"/>
              <a:t>Shoham</a:t>
            </a:r>
            <a:endParaRPr lang="en-US" sz="2400" dirty="0" smtClean="0"/>
          </a:p>
          <a:p>
            <a:pPr algn="ctr"/>
            <a:r>
              <a:rPr lang="en-US" dirty="0" smtClean="0"/>
              <a:t>Tel Aviv University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85800" y="3131212"/>
            <a:ext cx="23100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Yotam Feldman</a:t>
            </a:r>
          </a:p>
          <a:p>
            <a:pPr algn="ctr"/>
            <a:r>
              <a:rPr lang="en-US" dirty="0" smtClean="0"/>
              <a:t>Tel Aviv University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416968" y="3131212"/>
            <a:ext cx="23196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Constantin </a:t>
            </a:r>
            <a:r>
              <a:rPr lang="en-US" sz="2400" dirty="0" err="1" smtClean="0"/>
              <a:t>Enea</a:t>
            </a:r>
            <a:endParaRPr lang="en-US" sz="2400" dirty="0" smtClean="0"/>
          </a:p>
          <a:p>
            <a:pPr algn="ctr"/>
            <a:r>
              <a:rPr lang="en-US" dirty="0" smtClean="0"/>
              <a:t>University Paris </a:t>
            </a:r>
            <a:r>
              <a:rPr lang="en-US" dirty="0" err="1" smtClean="0"/>
              <a:t>Diterot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148137" y="3131212"/>
            <a:ext cx="23100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Adam Morrison</a:t>
            </a:r>
          </a:p>
          <a:p>
            <a:pPr algn="ctr"/>
            <a:r>
              <a:rPr lang="en-US" dirty="0" smtClean="0"/>
              <a:t>Tel Aviv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910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Concurrent Reasoning is Hard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602195" y="1690689"/>
            <a:ext cx="7913154" cy="1016410"/>
            <a:chOff x="329379" y="2120080"/>
            <a:chExt cx="8485239" cy="1763662"/>
          </a:xfrm>
        </p:grpSpPr>
        <p:sp>
          <p:nvSpPr>
            <p:cNvPr id="7" name="Rectangle 6"/>
            <p:cNvSpPr/>
            <p:nvPr/>
          </p:nvSpPr>
          <p:spPr bwMode="auto">
            <a:xfrm>
              <a:off x="707924" y="2120080"/>
              <a:ext cx="7728154" cy="1763662"/>
            </a:xfrm>
            <a:prstGeom prst="rect">
              <a:avLst/>
            </a:prstGeom>
            <a:solidFill>
              <a:srgbClr val="CCECFF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342900" indent="-342900" algn="ctr" eaLnBrk="1" hangingPunct="1">
                <a:spcBef>
                  <a:spcPct val="20000"/>
                </a:spcBef>
                <a:buFontTx/>
                <a:buChar char="•"/>
              </a:pPr>
              <a:endParaRPr lang="en-US" smtClean="0">
                <a:ea typeface="Batang" panose="02030600000101010101" pitchFamily="18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9379" y="2120080"/>
              <a:ext cx="8485239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 dirty="0" smtClean="0"/>
                <a:t>Goal: Prove </a:t>
              </a:r>
              <a:r>
                <a:rPr lang="en-US" sz="2600" dirty="0" err="1" smtClean="0"/>
                <a:t>linearizability</a:t>
              </a:r>
              <a:r>
                <a:rPr lang="en-US" sz="2600" dirty="0" smtClean="0"/>
                <a:t> of </a:t>
              </a:r>
              <a:br>
                <a:rPr lang="en-US" sz="2600" dirty="0" smtClean="0"/>
              </a:br>
              <a:r>
                <a:rPr lang="en-US" sz="2600" dirty="0" smtClean="0"/>
                <a:t>highly-concurrent data structures</a:t>
              </a:r>
              <a:endParaRPr lang="en-US" sz="2600" dirty="0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52"/>
          <a:stretch/>
        </p:blipFill>
        <p:spPr>
          <a:xfrm>
            <a:off x="968443" y="3178097"/>
            <a:ext cx="7207113" cy="370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47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Optimistic Traversals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4719"/>
            <a:ext cx="4411701" cy="4351338"/>
          </a:xfrm>
        </p:spPr>
        <p:txBody>
          <a:bodyPr/>
          <a:lstStyle/>
          <a:p>
            <a:r>
              <a:rPr lang="en-US" dirty="0" smtClean="0"/>
              <a:t>Lazy list </a:t>
            </a:r>
            <a:r>
              <a:rPr lang="en-US" altLang="en-US" sz="2000" dirty="0" smtClean="0">
                <a:solidFill>
                  <a:prstClr val="black"/>
                </a:solidFill>
              </a:rPr>
              <a:t>[OPODIS’05]</a:t>
            </a:r>
            <a:endParaRPr lang="en-US" dirty="0" smtClean="0"/>
          </a:p>
          <a:p>
            <a:pPr lvl="0"/>
            <a:r>
              <a:rPr lang="en-US" dirty="0" smtClean="0"/>
              <a:t>Lock-free </a:t>
            </a:r>
            <a:r>
              <a:rPr lang="en-US" dirty="0" err="1" smtClean="0"/>
              <a:t>skiplist</a:t>
            </a:r>
            <a:r>
              <a:rPr lang="en-US" dirty="0" smtClean="0"/>
              <a:t> 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altLang="en-US" sz="2000" dirty="0" smtClean="0">
                <a:solidFill>
                  <a:prstClr val="black"/>
                </a:solidFill>
              </a:rPr>
              <a:t>[Fraser-2004]</a:t>
            </a:r>
            <a:endParaRPr lang="en-US" dirty="0" smtClean="0"/>
          </a:p>
          <a:p>
            <a:r>
              <a:rPr lang="en-US" dirty="0" smtClean="0"/>
              <a:t>Contention-Friendly Tree </a:t>
            </a:r>
            <a:r>
              <a:rPr lang="en-US" altLang="en-US" sz="2000" dirty="0">
                <a:solidFill>
                  <a:prstClr val="black"/>
                </a:solidFill>
              </a:rPr>
              <a:t>[EuroPar’13, PPL’16]</a:t>
            </a:r>
            <a:endParaRPr lang="en-US" dirty="0" smtClean="0"/>
          </a:p>
          <a:p>
            <a:r>
              <a:rPr lang="en-US" dirty="0" smtClean="0"/>
              <a:t>Lock </a:t>
            </a:r>
            <a:r>
              <a:rPr lang="en-US" dirty="0"/>
              <a:t>free trees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altLang="en-US" sz="2000" dirty="0" smtClean="0">
                <a:solidFill>
                  <a:prstClr val="black"/>
                </a:solidFill>
              </a:rPr>
              <a:t>[PPOPP’14b, SPAA’12, PPOPP’14a, PODC’10, ICDCN’15]</a:t>
            </a:r>
          </a:p>
          <a:p>
            <a:r>
              <a:rPr lang="en-US" sz="2000" dirty="0" smtClean="0">
                <a:solidFill>
                  <a:prstClr val="black"/>
                </a:solidFill>
              </a:rPr>
              <a:t>…</a:t>
            </a:r>
            <a:endParaRPr lang="en-US" sz="2000" dirty="0"/>
          </a:p>
          <a:p>
            <a:endParaRPr lang="en-US" dirty="0" smtClean="0"/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381363" y="1525172"/>
            <a:ext cx="6959750" cy="738526"/>
            <a:chOff x="858644" y="5204361"/>
            <a:chExt cx="8610971" cy="893584"/>
          </a:xfrm>
        </p:grpSpPr>
        <p:grpSp>
          <p:nvGrpSpPr>
            <p:cNvPr id="6" name="Group 5"/>
            <p:cNvGrpSpPr/>
            <p:nvPr/>
          </p:nvGrpSpPr>
          <p:grpSpPr>
            <a:xfrm>
              <a:off x="858644" y="5204361"/>
              <a:ext cx="8610971" cy="817299"/>
              <a:chOff x="587299" y="2200123"/>
              <a:chExt cx="9953258" cy="2033434"/>
            </a:xfrm>
          </p:grpSpPr>
          <p:sp>
            <p:nvSpPr>
              <p:cNvPr id="7" name="Rectangle 6"/>
              <p:cNvSpPr/>
              <p:nvPr/>
            </p:nvSpPr>
            <p:spPr bwMode="auto">
              <a:xfrm>
                <a:off x="587299" y="2200123"/>
                <a:ext cx="9953258" cy="2033434"/>
              </a:xfrm>
              <a:prstGeom prst="rect">
                <a:avLst/>
              </a:prstGeom>
              <a:solidFill>
                <a:srgbClr val="CCECFF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342900" indent="-342900" algn="ctr" eaLnBrk="1" hangingPunct="1">
                  <a:spcBef>
                    <a:spcPct val="20000"/>
                  </a:spcBef>
                  <a:buFontTx/>
                  <a:buChar char="•"/>
                </a:pPr>
                <a:endParaRPr lang="en-US" smtClean="0">
                  <a:ea typeface="Batang" panose="02030600000101010101" pitchFamily="18" charset="-127"/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587300" y="2507037"/>
                <a:ext cx="6831226" cy="1552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p:grpSp>
        <p:sp>
          <p:nvSpPr>
            <p:cNvPr id="5" name="Content Placeholder 2"/>
            <p:cNvSpPr txBox="1">
              <a:spLocks/>
            </p:cNvSpPr>
            <p:nvPr/>
          </p:nvSpPr>
          <p:spPr>
            <a:xfrm>
              <a:off x="1964455" y="5351806"/>
              <a:ext cx="6154663" cy="74613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dirty="0" smtClean="0"/>
                <a:t>Good performance, hard proofs</a:t>
              </a:r>
              <a:endParaRPr lang="en-US" dirty="0"/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9" r="10964"/>
          <a:stretch/>
        </p:blipFill>
        <p:spPr>
          <a:xfrm>
            <a:off x="6124601" y="2431521"/>
            <a:ext cx="2506443" cy="19752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601" y="4637680"/>
            <a:ext cx="2488788" cy="192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278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Work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443195" y="1778012"/>
            <a:ext cx="8326606" cy="685493"/>
            <a:chOff x="587300" y="2200119"/>
            <a:chExt cx="8326606" cy="2033436"/>
          </a:xfrm>
        </p:grpSpPr>
        <p:sp>
          <p:nvSpPr>
            <p:cNvPr id="11" name="Rectangle 10"/>
            <p:cNvSpPr/>
            <p:nvPr/>
          </p:nvSpPr>
          <p:spPr bwMode="auto">
            <a:xfrm>
              <a:off x="587300" y="2200119"/>
              <a:ext cx="8326606" cy="2033436"/>
            </a:xfrm>
            <a:prstGeom prst="rect">
              <a:avLst/>
            </a:prstGeom>
            <a:solidFill>
              <a:srgbClr val="CCECFF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342900" indent="-342900" algn="ctr" eaLnBrk="1" hangingPunct="1">
                <a:spcBef>
                  <a:spcPct val="20000"/>
                </a:spcBef>
                <a:buFontTx/>
                <a:buChar char="•"/>
              </a:pPr>
              <a:endParaRPr lang="en-US" smtClean="0">
                <a:ea typeface="Batang" panose="02030600000101010101" pitchFamily="18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7300" y="2507042"/>
              <a:ext cx="8326606" cy="1552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Main challenge: correctness of optimistic </a:t>
              </a:r>
              <a:r>
                <a:rPr lang="en-US" sz="2800" b="1" dirty="0" smtClean="0">
                  <a:solidFill>
                    <a:srgbClr val="7030A0"/>
                  </a:solidFill>
                </a:rPr>
                <a:t>traversals</a:t>
              </a:r>
              <a:endParaRPr lang="en-US" sz="2800" b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43195" y="2942273"/>
            <a:ext cx="8420234" cy="2033436"/>
            <a:chOff x="643055" y="2200119"/>
            <a:chExt cx="8420234" cy="2033436"/>
          </a:xfrm>
        </p:grpSpPr>
        <p:sp>
          <p:nvSpPr>
            <p:cNvPr id="13" name="Rectangle 12"/>
            <p:cNvSpPr/>
            <p:nvPr/>
          </p:nvSpPr>
          <p:spPr bwMode="auto">
            <a:xfrm>
              <a:off x="643055" y="2200119"/>
              <a:ext cx="8326606" cy="2033436"/>
            </a:xfrm>
            <a:prstGeom prst="rect">
              <a:avLst/>
            </a:prstGeom>
            <a:solidFill>
              <a:srgbClr val="CCECFF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342900" indent="-342900" algn="ctr" eaLnBrk="1" hangingPunct="1">
                <a:spcBef>
                  <a:spcPct val="20000"/>
                </a:spcBef>
                <a:buFontTx/>
                <a:buChar char="•"/>
              </a:pPr>
              <a:endParaRPr lang="en-US" smtClean="0">
                <a:ea typeface="Batang" panose="02030600000101010101" pitchFamily="18" charset="-127"/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658473" y="2512904"/>
              <a:ext cx="8404816" cy="1400004"/>
              <a:chOff x="658473" y="2512904"/>
              <a:chExt cx="8404816" cy="1400004"/>
            </a:xfrm>
          </p:grpSpPr>
          <p:sp>
            <p:nvSpPr>
              <p:cNvPr id="16" name="Right Arrow 15"/>
              <p:cNvSpPr/>
              <p:nvPr/>
            </p:nvSpPr>
            <p:spPr>
              <a:xfrm>
                <a:off x="4308304" y="3119628"/>
                <a:ext cx="1178673" cy="231442"/>
              </a:xfrm>
              <a:prstGeom prst="rightArrow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658473" y="2512904"/>
                <a:ext cx="351122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 smtClean="0"/>
                  <a:t>Traversal correctness</a:t>
                </a:r>
              </a:p>
              <a:p>
                <a:pPr algn="ctr"/>
                <a:r>
                  <a:rPr lang="en-US" sz="2800" b="1" dirty="0" smtClean="0"/>
                  <a:t>without interference</a:t>
                </a:r>
                <a:br>
                  <a:rPr lang="en-US" sz="2800" b="1" dirty="0" smtClean="0"/>
                </a:br>
                <a:r>
                  <a:rPr lang="en-US" sz="2800" dirty="0" smtClean="0"/>
                  <a:t>(sequential reasoning)</a:t>
                </a:r>
                <a:endParaRPr lang="en-US" sz="2800" b="1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418629" y="2527913"/>
                <a:ext cx="364466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 smtClean="0"/>
                  <a:t>Traversal correctness </a:t>
                </a:r>
                <a:br>
                  <a:rPr lang="en-US" sz="2800" dirty="0" smtClean="0"/>
                </a:br>
                <a:r>
                  <a:rPr lang="en-US" sz="2800" b="1" dirty="0" smtClean="0">
                    <a:solidFill>
                      <a:srgbClr val="7030A0"/>
                    </a:solidFill>
                  </a:rPr>
                  <a:t>with</a:t>
                </a:r>
                <a:r>
                  <a:rPr lang="en-US" sz="2800" b="1" dirty="0" smtClean="0"/>
                  <a:t> interference</a:t>
                </a:r>
                <a:br>
                  <a:rPr lang="en-US" sz="2800" b="1" dirty="0" smtClean="0"/>
                </a:br>
                <a:r>
                  <a:rPr lang="en-US" sz="2800" dirty="0" smtClean="0"/>
                  <a:t>(concurrent reasoning)</a:t>
                </a:r>
                <a:endParaRPr lang="en-US" sz="28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7148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Lazy Binary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Variant of Contention-Friendly Tree</a:t>
            </a:r>
            <a:r>
              <a:rPr lang="en-US" altLang="en-US" sz="1600" dirty="0">
                <a:solidFill>
                  <a:prstClr val="black"/>
                </a:solidFill>
              </a:rPr>
              <a:t> </a:t>
            </a:r>
            <a:r>
              <a:rPr lang="en-US" altLang="en-US" sz="2000" dirty="0">
                <a:solidFill>
                  <a:prstClr val="black"/>
                </a:solidFill>
              </a:rPr>
              <a:t>[EuroPar’13, PPL’16]</a:t>
            </a:r>
            <a:endParaRPr lang="en-US" sz="3600" dirty="0" smtClean="0"/>
          </a:p>
          <a:p>
            <a:r>
              <a:rPr lang="en-US" b="1" dirty="0" smtClean="0"/>
              <a:t>Traversal does not take locks</a:t>
            </a:r>
          </a:p>
          <a:p>
            <a:pPr lvl="1"/>
            <a:r>
              <a:rPr lang="en-US" dirty="0" smtClean="0"/>
              <a:t>Used by contains, insert &amp; delete</a:t>
            </a:r>
          </a:p>
          <a:p>
            <a:r>
              <a:rPr lang="en-US" dirty="0" smtClean="0"/>
              <a:t>Self balancing – rotation allocates a new node</a:t>
            </a:r>
          </a:p>
          <a:p>
            <a:r>
              <a:rPr lang="en-US" dirty="0" smtClean="0"/>
              <a:t>Marks logical &amp; physical deletion by separate bits</a:t>
            </a:r>
          </a:p>
          <a:p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5292034" y="4411619"/>
            <a:ext cx="2976067" cy="1774969"/>
            <a:chOff x="2519958" y="4117284"/>
            <a:chExt cx="4041464" cy="2410387"/>
          </a:xfrm>
        </p:grpSpPr>
        <p:sp>
          <p:nvSpPr>
            <p:cNvPr id="4" name="Oval 3"/>
            <p:cNvSpPr/>
            <p:nvPr/>
          </p:nvSpPr>
          <p:spPr>
            <a:xfrm>
              <a:off x="5211823" y="4497007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900" dirty="0"/>
                <a:t>7</a:t>
              </a:r>
            </a:p>
          </p:txBody>
        </p:sp>
        <p:cxnSp>
          <p:nvCxnSpPr>
            <p:cNvPr id="5" name="Straight Arrow Connector 4"/>
            <p:cNvCxnSpPr/>
            <p:nvPr/>
          </p:nvCxnSpPr>
          <p:spPr>
            <a:xfrm flipH="1">
              <a:off x="4414222" y="4637672"/>
              <a:ext cx="818201" cy="5169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4294158" y="5112530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900" dirty="0"/>
                <a:t>4</a:t>
              </a:r>
            </a:p>
          </p:txBody>
        </p:sp>
        <p:cxnSp>
          <p:nvCxnSpPr>
            <p:cNvPr id="7" name="Straight Arrow Connector 6"/>
            <p:cNvCxnSpPr>
              <a:endCxn id="8" idx="0"/>
            </p:cNvCxnSpPr>
            <p:nvPr/>
          </p:nvCxnSpPr>
          <p:spPr>
            <a:xfrm flipH="1">
              <a:off x="3509197" y="5195863"/>
              <a:ext cx="818201" cy="5169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3368532" y="5712854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900" dirty="0" smtClean="0"/>
                <a:t>2</a:t>
              </a:r>
              <a:endParaRPr lang="en-US" sz="1900" dirty="0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5035172" y="4117284"/>
              <a:ext cx="267997" cy="3874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519958" y="6246342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900" dirty="0" smtClean="0"/>
                <a:t>1</a:t>
              </a:r>
              <a:endParaRPr lang="en-US" sz="1900" dirty="0"/>
            </a:p>
          </p:txBody>
        </p:sp>
        <p:cxnSp>
          <p:nvCxnSpPr>
            <p:cNvPr id="11" name="Straight Arrow Connector 10"/>
            <p:cNvCxnSpPr>
              <a:endCxn id="10" idx="0"/>
            </p:cNvCxnSpPr>
            <p:nvPr/>
          </p:nvCxnSpPr>
          <p:spPr>
            <a:xfrm flipH="1">
              <a:off x="2660623" y="5771121"/>
              <a:ext cx="731028" cy="4752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280093" y="5163909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900" dirty="0"/>
                <a:t>8</a:t>
              </a:r>
            </a:p>
          </p:txBody>
        </p:sp>
        <p:cxnSp>
          <p:nvCxnSpPr>
            <p:cNvPr id="13" name="Straight Arrow Connector 12"/>
            <p:cNvCxnSpPr>
              <a:endCxn id="12" idx="0"/>
            </p:cNvCxnSpPr>
            <p:nvPr/>
          </p:nvCxnSpPr>
          <p:spPr>
            <a:xfrm>
              <a:off x="5493152" y="4606729"/>
              <a:ext cx="927606" cy="5571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3625698" y="5784994"/>
              <a:ext cx="666499" cy="4513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4186733" y="6222449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900" dirty="0" smtClean="0"/>
                <a:t>3</a:t>
              </a:r>
              <a:endParaRPr lang="en-US" sz="1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5684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247721" cy="1325563"/>
          </a:xfrm>
        </p:spPr>
        <p:txBody>
          <a:bodyPr/>
          <a:lstStyle/>
          <a:p>
            <a:r>
              <a:rPr lang="en-US" dirty="0" err="1" smtClean="0"/>
              <a:t>Linearizability</a:t>
            </a:r>
            <a:r>
              <a:rPr lang="en-US" dirty="0" smtClean="0"/>
              <a:t> Proof Uses Paths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75054"/>
            <a:ext cx="8515350" cy="2474526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/>
              <a:t>A tree represents a set using search paths: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000" dirty="0"/>
              <a:t>Linearization point: set modified by at most</a:t>
            </a:r>
            <a:br>
              <a:rPr lang="en-US" sz="3000" dirty="0"/>
            </a:br>
            <a:r>
              <a:rPr lang="en-US" sz="3000" dirty="0"/>
              <a:t>one write in each </a:t>
            </a:r>
            <a:r>
              <a:rPr lang="en-US" sz="3000" dirty="0" smtClean="0"/>
              <a:t>operation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536723"/>
            <a:ext cx="8002761" cy="521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3138967" y="4188941"/>
            <a:ext cx="3906745" cy="2330039"/>
            <a:chOff x="2519958" y="4117284"/>
            <a:chExt cx="4041464" cy="2410387"/>
          </a:xfrm>
        </p:grpSpPr>
        <p:sp>
          <p:nvSpPr>
            <p:cNvPr id="13" name="Oval 12"/>
            <p:cNvSpPr/>
            <p:nvPr/>
          </p:nvSpPr>
          <p:spPr>
            <a:xfrm>
              <a:off x="5211823" y="4497007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900" dirty="0"/>
                <a:t>7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4414222" y="4637672"/>
              <a:ext cx="818201" cy="5169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4294158" y="5112530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900" dirty="0"/>
                <a:t>4</a:t>
              </a:r>
            </a:p>
          </p:txBody>
        </p:sp>
        <p:cxnSp>
          <p:nvCxnSpPr>
            <p:cNvPr id="16" name="Straight Arrow Connector 15"/>
            <p:cNvCxnSpPr>
              <a:endCxn id="17" idx="0"/>
            </p:cNvCxnSpPr>
            <p:nvPr/>
          </p:nvCxnSpPr>
          <p:spPr>
            <a:xfrm flipH="1">
              <a:off x="3509197" y="5195863"/>
              <a:ext cx="818201" cy="5169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/>
            <p:cNvSpPr/>
            <p:nvPr/>
          </p:nvSpPr>
          <p:spPr>
            <a:xfrm>
              <a:off x="3368532" y="5712854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900" dirty="0" smtClean="0"/>
                <a:t>2</a:t>
              </a:r>
              <a:endParaRPr lang="en-US" sz="1900" dirty="0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5035172" y="4117284"/>
              <a:ext cx="267997" cy="3874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2519958" y="6246342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900" dirty="0" smtClean="0"/>
                <a:t>1</a:t>
              </a:r>
              <a:endParaRPr lang="en-US" sz="1900" dirty="0"/>
            </a:p>
          </p:txBody>
        </p:sp>
        <p:cxnSp>
          <p:nvCxnSpPr>
            <p:cNvPr id="20" name="Straight Arrow Connector 19"/>
            <p:cNvCxnSpPr>
              <a:endCxn id="19" idx="0"/>
            </p:cNvCxnSpPr>
            <p:nvPr/>
          </p:nvCxnSpPr>
          <p:spPr>
            <a:xfrm flipH="1">
              <a:off x="2660623" y="5771121"/>
              <a:ext cx="731028" cy="4752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6280093" y="5163909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900" dirty="0"/>
                <a:t>8</a:t>
              </a:r>
            </a:p>
          </p:txBody>
        </p:sp>
        <p:cxnSp>
          <p:nvCxnSpPr>
            <p:cNvPr id="22" name="Straight Arrow Connector 21"/>
            <p:cNvCxnSpPr>
              <a:endCxn id="21" idx="0"/>
            </p:cNvCxnSpPr>
            <p:nvPr/>
          </p:nvCxnSpPr>
          <p:spPr>
            <a:xfrm>
              <a:off x="5493152" y="4606729"/>
              <a:ext cx="927606" cy="5571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3625698" y="5784994"/>
              <a:ext cx="666499" cy="4513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/>
            <p:cNvSpPr/>
            <p:nvPr/>
          </p:nvSpPr>
          <p:spPr>
            <a:xfrm>
              <a:off x="4186733" y="6222449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900" dirty="0" smtClean="0"/>
                <a:t>3</a:t>
              </a:r>
              <a:endParaRPr lang="en-US" sz="19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957159" y="6017339"/>
                <a:ext cx="45420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159" y="6017339"/>
                <a:ext cx="45420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 6"/>
          <p:cNvSpPr/>
          <p:nvPr/>
        </p:nvSpPr>
        <p:spPr>
          <a:xfrm>
            <a:off x="4200260" y="4188941"/>
            <a:ext cx="1390465" cy="1878227"/>
          </a:xfrm>
          <a:custGeom>
            <a:avLst/>
            <a:gdLst>
              <a:gd name="connsiteX0" fmla="*/ 1014291 w 1390465"/>
              <a:gd name="connsiteY0" fmla="*/ 0 h 1878227"/>
              <a:gd name="connsiteX1" fmla="*/ 1335567 w 1390465"/>
              <a:gd name="connsiteY1" fmla="*/ 333632 h 1878227"/>
              <a:gd name="connsiteX2" fmla="*/ 13394 w 1390465"/>
              <a:gd name="connsiteY2" fmla="*/ 1210962 h 1878227"/>
              <a:gd name="connsiteX3" fmla="*/ 767156 w 1390465"/>
              <a:gd name="connsiteY3" fmla="*/ 1878227 h 1878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0465" h="1878227">
                <a:moveTo>
                  <a:pt x="1014291" y="0"/>
                </a:moveTo>
                <a:cubicBezTo>
                  <a:pt x="1258337" y="65902"/>
                  <a:pt x="1502383" y="131805"/>
                  <a:pt x="1335567" y="333632"/>
                </a:cubicBezTo>
                <a:cubicBezTo>
                  <a:pt x="1168751" y="535459"/>
                  <a:pt x="108129" y="953530"/>
                  <a:pt x="13394" y="1210962"/>
                </a:cubicBezTo>
                <a:cubicBezTo>
                  <a:pt x="-81341" y="1468395"/>
                  <a:pt x="342907" y="1673311"/>
                  <a:pt x="767156" y="1878227"/>
                </a:cubicBezTo>
              </a:path>
            </a:pathLst>
          </a:custGeom>
          <a:ln w="28575">
            <a:solidFill>
              <a:srgbClr val="7030A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868" y="4466826"/>
            <a:ext cx="1772270" cy="574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0629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 txBox="1">
            <a:spLocks/>
          </p:cNvSpPr>
          <p:nvPr/>
        </p:nvSpPr>
        <p:spPr>
          <a:xfrm>
            <a:off x="628650" y="1875054"/>
            <a:ext cx="8515350" cy="24745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smtClean="0"/>
              <a:t>A tree represents a set using search paths: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z="3000" smtClean="0"/>
              <a:t>Linearization point: set modified by at most</a:t>
            </a:r>
            <a:br>
              <a:rPr lang="en-US" sz="3000" smtClean="0"/>
            </a:br>
            <a:r>
              <a:rPr lang="en-US" sz="3000" smtClean="0"/>
              <a:t>one write in each operation</a:t>
            </a:r>
            <a:endParaRPr lang="en-US" sz="30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247721" cy="1325563"/>
          </a:xfrm>
        </p:spPr>
        <p:txBody>
          <a:bodyPr/>
          <a:lstStyle/>
          <a:p>
            <a:r>
              <a:rPr lang="en-US" dirty="0" err="1" smtClean="0"/>
              <a:t>Linearizability</a:t>
            </a:r>
            <a:r>
              <a:rPr lang="en-US" dirty="0" smtClean="0"/>
              <a:t> Proof Uses Paths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263081"/>
            <a:ext cx="8515350" cy="2304988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endParaRPr lang="en-US" sz="2600" dirty="0" smtClean="0"/>
          </a:p>
          <a:p>
            <a:r>
              <a:rPr lang="en-US" sz="3000" b="1" dirty="0" smtClean="0"/>
              <a:t>Contains: </a:t>
            </a:r>
            <a:r>
              <a:rPr lang="en-US" sz="3000" dirty="0" smtClean="0"/>
              <a:t>exists path to key/null at some point</a:t>
            </a:r>
          </a:p>
          <a:p>
            <a:r>
              <a:rPr lang="en-US" sz="3000" b="1" dirty="0" smtClean="0"/>
              <a:t>Insert/delete:</a:t>
            </a:r>
            <a:r>
              <a:rPr lang="en-US" sz="3000" dirty="0" smtClean="0"/>
              <a:t> add/remove path</a:t>
            </a:r>
          </a:p>
          <a:p>
            <a:r>
              <a:rPr lang="en-US" sz="3000" dirty="0" smtClean="0"/>
              <a:t>Maintenance operations (e.g. rotate):</a:t>
            </a:r>
            <a:br>
              <a:rPr lang="en-US" sz="3000" dirty="0" smtClean="0"/>
            </a:br>
            <a:r>
              <a:rPr lang="en-US" sz="3000" dirty="0" smtClean="0"/>
              <a:t>no observable effect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536723"/>
            <a:ext cx="8002761" cy="521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ounded Rectangle 3"/>
          <p:cNvSpPr/>
          <p:nvPr/>
        </p:nvSpPr>
        <p:spPr>
          <a:xfrm>
            <a:off x="3864076" y="2428569"/>
            <a:ext cx="1539197" cy="766916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332509" y="3398743"/>
            <a:ext cx="8568575" cy="1024706"/>
            <a:chOff x="345331" y="2200119"/>
            <a:chExt cx="8568575" cy="2033436"/>
          </a:xfrm>
        </p:grpSpPr>
        <p:sp>
          <p:nvSpPr>
            <p:cNvPr id="11" name="Rectangle 10"/>
            <p:cNvSpPr/>
            <p:nvPr/>
          </p:nvSpPr>
          <p:spPr bwMode="auto">
            <a:xfrm>
              <a:off x="587300" y="2200119"/>
              <a:ext cx="8326606" cy="2033436"/>
            </a:xfrm>
            <a:prstGeom prst="rect">
              <a:avLst/>
            </a:prstGeom>
            <a:solidFill>
              <a:srgbClr val="CCECFF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342900" indent="-342900" algn="ctr" eaLnBrk="1" hangingPunct="1">
                <a:spcBef>
                  <a:spcPct val="20000"/>
                </a:spcBef>
                <a:buFontTx/>
                <a:buChar char="•"/>
              </a:pPr>
              <a:endParaRPr lang="en-US" smtClean="0">
                <a:ea typeface="Batang" panose="02030600000101010101" pitchFamily="18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45331" y="2231340"/>
              <a:ext cx="8543861" cy="18933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Correct </a:t>
              </a:r>
              <a:r>
                <a:rPr lang="en-US" sz="2800" b="1" dirty="0" smtClean="0">
                  <a:solidFill>
                    <a:srgbClr val="7030A0"/>
                  </a:solidFill>
                </a:rPr>
                <a:t>traversals</a:t>
              </a:r>
              <a:r>
                <a:rPr lang="en-US" sz="2800" dirty="0" smtClean="0"/>
                <a:t> required </a:t>
              </a:r>
              <a:br>
                <a:rPr lang="en-US" sz="2800" dirty="0" smtClean="0"/>
              </a:br>
              <a:r>
                <a:rPr lang="en-US" sz="2800" dirty="0" smtClean="0"/>
                <a:t>for correct paths manipulation</a:t>
              </a:r>
              <a:endParaRPr lang="en-US" sz="2800" b="1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142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Traversals: Inconsistent View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7165751" y="2292821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6368150" y="2433486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48086" y="2908344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37" name="Straight Arrow Connector 36"/>
          <p:cNvCxnSpPr>
            <a:endCxn id="38" idx="0"/>
          </p:cNvCxnSpPr>
          <p:nvPr/>
        </p:nvCxnSpPr>
        <p:spPr>
          <a:xfrm flipH="1">
            <a:off x="5463125" y="2991677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322460" y="3508668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989100" y="1913098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473886" y="4042156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44" name="Straight Arrow Connector 43"/>
          <p:cNvCxnSpPr>
            <a:endCxn id="43" idx="0"/>
          </p:cNvCxnSpPr>
          <p:nvPr/>
        </p:nvCxnSpPr>
        <p:spPr>
          <a:xfrm flipH="1">
            <a:off x="4614551" y="3566935"/>
            <a:ext cx="731028" cy="47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234021" y="295972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47" name="Straight Arrow Connector 46"/>
          <p:cNvCxnSpPr>
            <a:endCxn id="46" idx="0"/>
          </p:cNvCxnSpPr>
          <p:nvPr/>
        </p:nvCxnSpPr>
        <p:spPr>
          <a:xfrm>
            <a:off x="7447080" y="2402543"/>
            <a:ext cx="927606" cy="557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5579626" y="3580808"/>
            <a:ext cx="666499" cy="45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140661" y="401826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sp>
        <p:nvSpPr>
          <p:cNvPr id="26" name="TextBox 25"/>
          <p:cNvSpPr txBox="1"/>
          <p:nvPr/>
        </p:nvSpPr>
        <p:spPr>
          <a:xfrm>
            <a:off x="3803265" y="1459856"/>
            <a:ext cx="20689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7030A0"/>
                </a:solidFill>
              </a:rPr>
              <a:t>c</a:t>
            </a:r>
            <a:r>
              <a:rPr lang="en-US" sz="2600" b="1" dirty="0" smtClean="0">
                <a:solidFill>
                  <a:srgbClr val="7030A0"/>
                </a:solidFill>
              </a:rPr>
              <a:t>ontains(3)?</a:t>
            </a:r>
            <a:endParaRPr lang="en-US" sz="2600" b="1" dirty="0">
              <a:solidFill>
                <a:srgbClr val="7030A0"/>
              </a:solidFill>
            </a:endParaRPr>
          </a:p>
        </p:txBody>
      </p:sp>
      <p:grpSp>
        <p:nvGrpSpPr>
          <p:cNvPr id="29" name="Group 24"/>
          <p:cNvGrpSpPr>
            <a:grpSpLocks/>
          </p:cNvGrpSpPr>
          <p:nvPr/>
        </p:nvGrpSpPr>
        <p:grpSpPr bwMode="auto">
          <a:xfrm rot="-277548">
            <a:off x="6208374" y="1828128"/>
            <a:ext cx="733214" cy="485100"/>
            <a:chOff x="3168" y="1824"/>
            <a:chExt cx="912" cy="816"/>
          </a:xfrm>
        </p:grpSpPr>
        <p:sp>
          <p:nvSpPr>
            <p:cNvPr id="30" name="Freeform 25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26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Freeform 27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3 h 336"/>
                <a:gd name="T2" fmla="*/ 96 w 144"/>
                <a:gd name="T3" fmla="*/ 0 h 336"/>
                <a:gd name="T4" fmla="*/ 144 w 144"/>
                <a:gd name="T5" fmla="*/ 3 h 336"/>
                <a:gd name="T6" fmla="*/ 144 w 144"/>
                <a:gd name="T7" fmla="*/ 3 h 336"/>
                <a:gd name="T8" fmla="*/ 96 w 144"/>
                <a:gd name="T9" fmla="*/ 3 h 336"/>
                <a:gd name="T10" fmla="*/ 96 w 144"/>
                <a:gd name="T11" fmla="*/ 3 h 336"/>
                <a:gd name="T12" fmla="*/ 0 w 144"/>
                <a:gd name="T13" fmla="*/ 3 h 336"/>
                <a:gd name="T14" fmla="*/ 0 w 144"/>
                <a:gd name="T15" fmla="*/ 3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Freeform 28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29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Freeform 30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Freeform 31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2 h 432"/>
                <a:gd name="T4" fmla="*/ 1 w 336"/>
                <a:gd name="T5" fmla="*/ 2 h 432"/>
                <a:gd name="T6" fmla="*/ 1 w 336"/>
                <a:gd name="T7" fmla="*/ 2 h 432"/>
                <a:gd name="T8" fmla="*/ 0 w 336"/>
                <a:gd name="T9" fmla="*/ 2 h 432"/>
                <a:gd name="T10" fmla="*/ 0 w 336"/>
                <a:gd name="T11" fmla="*/ 2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Freeform 32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33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396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Traversals: Inconsistent View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7165751" y="2292821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6368150" y="2433486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48086" y="2908344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37" name="Straight Arrow Connector 36"/>
          <p:cNvCxnSpPr>
            <a:endCxn id="38" idx="0"/>
          </p:cNvCxnSpPr>
          <p:nvPr/>
        </p:nvCxnSpPr>
        <p:spPr>
          <a:xfrm flipH="1">
            <a:off x="5463125" y="2991677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322460" y="3508668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989100" y="1913098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473886" y="4042156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44" name="Straight Arrow Connector 43"/>
          <p:cNvCxnSpPr>
            <a:endCxn id="43" idx="0"/>
          </p:cNvCxnSpPr>
          <p:nvPr/>
        </p:nvCxnSpPr>
        <p:spPr>
          <a:xfrm flipH="1">
            <a:off x="4614551" y="3566935"/>
            <a:ext cx="731028" cy="47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234021" y="295972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47" name="Straight Arrow Connector 46"/>
          <p:cNvCxnSpPr>
            <a:endCxn id="46" idx="0"/>
          </p:cNvCxnSpPr>
          <p:nvPr/>
        </p:nvCxnSpPr>
        <p:spPr>
          <a:xfrm>
            <a:off x="7447080" y="2402543"/>
            <a:ext cx="927606" cy="557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5579626" y="3580808"/>
            <a:ext cx="666499" cy="45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140661" y="401826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sp>
        <p:nvSpPr>
          <p:cNvPr id="26" name="TextBox 25"/>
          <p:cNvSpPr txBox="1"/>
          <p:nvPr/>
        </p:nvSpPr>
        <p:spPr>
          <a:xfrm>
            <a:off x="3803265" y="1459856"/>
            <a:ext cx="20689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7030A0"/>
                </a:solidFill>
              </a:rPr>
              <a:t>c</a:t>
            </a:r>
            <a:r>
              <a:rPr lang="en-US" sz="2600" b="1" dirty="0" smtClean="0">
                <a:solidFill>
                  <a:srgbClr val="7030A0"/>
                </a:solidFill>
              </a:rPr>
              <a:t>ontains(3)?</a:t>
            </a:r>
            <a:endParaRPr lang="en-US" sz="2600" b="1" dirty="0">
              <a:solidFill>
                <a:srgbClr val="7030A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31374" y="1417649"/>
            <a:ext cx="189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global memory</a:t>
            </a:r>
            <a:endParaRPr lang="en-US" sz="2200" dirty="0"/>
          </a:p>
        </p:txBody>
      </p:sp>
      <p:sp>
        <p:nvSpPr>
          <p:cNvPr id="28" name="TextBox 27"/>
          <p:cNvSpPr txBox="1"/>
          <p:nvPr/>
        </p:nvSpPr>
        <p:spPr>
          <a:xfrm>
            <a:off x="1284216" y="1396912"/>
            <a:ext cx="1751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thread’s view</a:t>
            </a:r>
            <a:endParaRPr lang="en-US" sz="2200" dirty="0"/>
          </a:p>
        </p:txBody>
      </p:sp>
      <p:grpSp>
        <p:nvGrpSpPr>
          <p:cNvPr id="18" name="Group 24"/>
          <p:cNvGrpSpPr>
            <a:grpSpLocks/>
          </p:cNvGrpSpPr>
          <p:nvPr/>
        </p:nvGrpSpPr>
        <p:grpSpPr bwMode="auto">
          <a:xfrm rot="-277548">
            <a:off x="6208374" y="1828128"/>
            <a:ext cx="733214" cy="485100"/>
            <a:chOff x="3168" y="1824"/>
            <a:chExt cx="912" cy="816"/>
          </a:xfrm>
        </p:grpSpPr>
        <p:sp>
          <p:nvSpPr>
            <p:cNvPr id="19" name="Freeform 25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27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3 h 336"/>
                <a:gd name="T2" fmla="*/ 96 w 144"/>
                <a:gd name="T3" fmla="*/ 0 h 336"/>
                <a:gd name="T4" fmla="*/ 144 w 144"/>
                <a:gd name="T5" fmla="*/ 3 h 336"/>
                <a:gd name="T6" fmla="*/ 144 w 144"/>
                <a:gd name="T7" fmla="*/ 3 h 336"/>
                <a:gd name="T8" fmla="*/ 96 w 144"/>
                <a:gd name="T9" fmla="*/ 3 h 336"/>
                <a:gd name="T10" fmla="*/ 96 w 144"/>
                <a:gd name="T11" fmla="*/ 3 h 336"/>
                <a:gd name="T12" fmla="*/ 0 w 144"/>
                <a:gd name="T13" fmla="*/ 3 h 336"/>
                <a:gd name="T14" fmla="*/ 0 w 144"/>
                <a:gd name="T15" fmla="*/ 3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Freeform 28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Freeform 29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Freeform 30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Freeform 31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2 h 432"/>
                <a:gd name="T4" fmla="*/ 1 w 336"/>
                <a:gd name="T5" fmla="*/ 2 h 432"/>
                <a:gd name="T6" fmla="*/ 1 w 336"/>
                <a:gd name="T7" fmla="*/ 2 h 432"/>
                <a:gd name="T8" fmla="*/ 0 w 336"/>
                <a:gd name="T9" fmla="*/ 2 h 432"/>
                <a:gd name="T10" fmla="*/ 0 w 336"/>
                <a:gd name="T11" fmla="*/ 2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Freeform 32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Freeform 33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720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Traversals: Inconsistent View</a:t>
            </a:r>
          </a:p>
        </p:txBody>
      </p:sp>
      <p:sp>
        <p:nvSpPr>
          <p:cNvPr id="25" name="Oval 24"/>
          <p:cNvSpPr/>
          <p:nvPr/>
        </p:nvSpPr>
        <p:spPr>
          <a:xfrm>
            <a:off x="3016713" y="2382148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840062" y="2002425"/>
            <a:ext cx="267997" cy="38742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165751" y="2292821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6368150" y="2433486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48086" y="2908344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37" name="Straight Arrow Connector 36"/>
          <p:cNvCxnSpPr>
            <a:endCxn id="38" idx="0"/>
          </p:cNvCxnSpPr>
          <p:nvPr/>
        </p:nvCxnSpPr>
        <p:spPr>
          <a:xfrm flipH="1">
            <a:off x="5463125" y="2991677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322460" y="3508668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989100" y="1913098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473886" y="4042156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44" name="Straight Arrow Connector 43"/>
          <p:cNvCxnSpPr>
            <a:endCxn id="43" idx="0"/>
          </p:cNvCxnSpPr>
          <p:nvPr/>
        </p:nvCxnSpPr>
        <p:spPr>
          <a:xfrm flipH="1">
            <a:off x="4614551" y="3566935"/>
            <a:ext cx="731028" cy="47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234021" y="295972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47" name="Straight Arrow Connector 46"/>
          <p:cNvCxnSpPr>
            <a:endCxn id="46" idx="0"/>
          </p:cNvCxnSpPr>
          <p:nvPr/>
        </p:nvCxnSpPr>
        <p:spPr>
          <a:xfrm>
            <a:off x="7447080" y="2402543"/>
            <a:ext cx="927606" cy="557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5579626" y="3580808"/>
            <a:ext cx="666499" cy="45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140661" y="401826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grpSp>
        <p:nvGrpSpPr>
          <p:cNvPr id="17" name="Group 24"/>
          <p:cNvGrpSpPr>
            <a:grpSpLocks/>
          </p:cNvGrpSpPr>
          <p:nvPr/>
        </p:nvGrpSpPr>
        <p:grpSpPr bwMode="auto">
          <a:xfrm rot="-277548">
            <a:off x="6299692" y="2094040"/>
            <a:ext cx="733214" cy="485100"/>
            <a:chOff x="3168" y="1824"/>
            <a:chExt cx="912" cy="816"/>
          </a:xfrm>
        </p:grpSpPr>
        <p:sp>
          <p:nvSpPr>
            <p:cNvPr id="18" name="Freeform 25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Freeform 27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3 h 336"/>
                <a:gd name="T2" fmla="*/ 96 w 144"/>
                <a:gd name="T3" fmla="*/ 0 h 336"/>
                <a:gd name="T4" fmla="*/ 144 w 144"/>
                <a:gd name="T5" fmla="*/ 3 h 336"/>
                <a:gd name="T6" fmla="*/ 144 w 144"/>
                <a:gd name="T7" fmla="*/ 3 h 336"/>
                <a:gd name="T8" fmla="*/ 96 w 144"/>
                <a:gd name="T9" fmla="*/ 3 h 336"/>
                <a:gd name="T10" fmla="*/ 96 w 144"/>
                <a:gd name="T11" fmla="*/ 3 h 336"/>
                <a:gd name="T12" fmla="*/ 0 w 144"/>
                <a:gd name="T13" fmla="*/ 3 h 336"/>
                <a:gd name="T14" fmla="*/ 0 w 144"/>
                <a:gd name="T15" fmla="*/ 3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28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Freeform 29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Freeform 30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Freeform 31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2 h 432"/>
                <a:gd name="T4" fmla="*/ 1 w 336"/>
                <a:gd name="T5" fmla="*/ 2 h 432"/>
                <a:gd name="T6" fmla="*/ 1 w 336"/>
                <a:gd name="T7" fmla="*/ 2 h 432"/>
                <a:gd name="T8" fmla="*/ 0 w 336"/>
                <a:gd name="T9" fmla="*/ 2 h 432"/>
                <a:gd name="T10" fmla="*/ 0 w 336"/>
                <a:gd name="T11" fmla="*/ 2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Freeform 32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Freeform 33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3803265" y="1459856"/>
            <a:ext cx="20689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7030A0"/>
                </a:solidFill>
              </a:rPr>
              <a:t>c</a:t>
            </a:r>
            <a:r>
              <a:rPr lang="en-US" sz="2600" b="1" dirty="0" smtClean="0">
                <a:solidFill>
                  <a:srgbClr val="7030A0"/>
                </a:solidFill>
              </a:rPr>
              <a:t>ontains(3)?</a:t>
            </a:r>
            <a:endParaRPr lang="en-US" sz="2600" b="1" dirty="0">
              <a:solidFill>
                <a:srgbClr val="7030A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31374" y="1417649"/>
            <a:ext cx="189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global memory</a:t>
            </a:r>
            <a:endParaRPr lang="en-US" sz="2200" dirty="0"/>
          </a:p>
        </p:txBody>
      </p:sp>
      <p:sp>
        <p:nvSpPr>
          <p:cNvPr id="42" name="TextBox 41"/>
          <p:cNvSpPr txBox="1"/>
          <p:nvPr/>
        </p:nvSpPr>
        <p:spPr>
          <a:xfrm>
            <a:off x="1284216" y="1396912"/>
            <a:ext cx="1751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thread’s view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5792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Traversals: Inconsistent View</a:t>
            </a:r>
          </a:p>
        </p:txBody>
      </p:sp>
      <p:sp>
        <p:nvSpPr>
          <p:cNvPr id="25" name="Oval 24"/>
          <p:cNvSpPr/>
          <p:nvPr/>
        </p:nvSpPr>
        <p:spPr>
          <a:xfrm>
            <a:off x="3016713" y="2382148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840062" y="2002425"/>
            <a:ext cx="267997" cy="38742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165751" y="2292821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6368150" y="2433486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248086" y="2908344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37" name="Straight Arrow Connector 36"/>
          <p:cNvCxnSpPr>
            <a:endCxn id="38" idx="0"/>
          </p:cNvCxnSpPr>
          <p:nvPr/>
        </p:nvCxnSpPr>
        <p:spPr>
          <a:xfrm flipH="1">
            <a:off x="5463125" y="2991677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322460" y="3508668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989100" y="1913098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473886" y="4042156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44" name="Straight Arrow Connector 43"/>
          <p:cNvCxnSpPr>
            <a:endCxn id="43" idx="0"/>
          </p:cNvCxnSpPr>
          <p:nvPr/>
        </p:nvCxnSpPr>
        <p:spPr>
          <a:xfrm flipH="1">
            <a:off x="4614551" y="3566935"/>
            <a:ext cx="731028" cy="47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234021" y="295972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47" name="Straight Arrow Connector 46"/>
          <p:cNvCxnSpPr>
            <a:endCxn id="46" idx="0"/>
          </p:cNvCxnSpPr>
          <p:nvPr/>
        </p:nvCxnSpPr>
        <p:spPr>
          <a:xfrm>
            <a:off x="7447080" y="2402543"/>
            <a:ext cx="927606" cy="557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5579626" y="3580808"/>
            <a:ext cx="666499" cy="45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140661" y="401826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2219112" y="2522813"/>
            <a:ext cx="818201" cy="5169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099048" y="2997671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grpSp>
        <p:nvGrpSpPr>
          <p:cNvPr id="31" name="Group 24"/>
          <p:cNvGrpSpPr>
            <a:grpSpLocks/>
          </p:cNvGrpSpPr>
          <p:nvPr/>
        </p:nvGrpSpPr>
        <p:grpSpPr bwMode="auto">
          <a:xfrm rot="-277548">
            <a:off x="6516798" y="3106621"/>
            <a:ext cx="733214" cy="485100"/>
            <a:chOff x="3168" y="1824"/>
            <a:chExt cx="912" cy="816"/>
          </a:xfrm>
        </p:grpSpPr>
        <p:sp>
          <p:nvSpPr>
            <p:cNvPr id="32" name="Freeform 25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27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3 h 336"/>
                <a:gd name="T2" fmla="*/ 96 w 144"/>
                <a:gd name="T3" fmla="*/ 0 h 336"/>
                <a:gd name="T4" fmla="*/ 144 w 144"/>
                <a:gd name="T5" fmla="*/ 3 h 336"/>
                <a:gd name="T6" fmla="*/ 144 w 144"/>
                <a:gd name="T7" fmla="*/ 3 h 336"/>
                <a:gd name="T8" fmla="*/ 96 w 144"/>
                <a:gd name="T9" fmla="*/ 3 h 336"/>
                <a:gd name="T10" fmla="*/ 96 w 144"/>
                <a:gd name="T11" fmla="*/ 3 h 336"/>
                <a:gd name="T12" fmla="*/ 0 w 144"/>
                <a:gd name="T13" fmla="*/ 3 h 336"/>
                <a:gd name="T14" fmla="*/ 0 w 144"/>
                <a:gd name="T15" fmla="*/ 3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Freeform 28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Freeform 29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Freeform 30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31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2 h 432"/>
                <a:gd name="T4" fmla="*/ 1 w 336"/>
                <a:gd name="T5" fmla="*/ 2 h 432"/>
                <a:gd name="T6" fmla="*/ 1 w 336"/>
                <a:gd name="T7" fmla="*/ 2 h 432"/>
                <a:gd name="T8" fmla="*/ 0 w 336"/>
                <a:gd name="T9" fmla="*/ 2 h 432"/>
                <a:gd name="T10" fmla="*/ 0 w 336"/>
                <a:gd name="T11" fmla="*/ 2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Freeform 32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Freeform 33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3803265" y="1459856"/>
            <a:ext cx="20689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7030A0"/>
                </a:solidFill>
              </a:rPr>
              <a:t>c</a:t>
            </a:r>
            <a:r>
              <a:rPr lang="en-US" sz="2600" b="1" dirty="0" smtClean="0">
                <a:solidFill>
                  <a:srgbClr val="7030A0"/>
                </a:solidFill>
              </a:rPr>
              <a:t>ontains(3)?</a:t>
            </a:r>
            <a:endParaRPr lang="en-US" sz="2600" b="1" dirty="0">
              <a:solidFill>
                <a:srgbClr val="7030A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31374" y="1417649"/>
            <a:ext cx="189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global memory</a:t>
            </a:r>
            <a:endParaRPr lang="en-US" sz="2200" dirty="0"/>
          </a:p>
        </p:txBody>
      </p:sp>
      <p:sp>
        <p:nvSpPr>
          <p:cNvPr id="55" name="TextBox 54"/>
          <p:cNvSpPr txBox="1"/>
          <p:nvPr/>
        </p:nvSpPr>
        <p:spPr>
          <a:xfrm>
            <a:off x="1284216" y="1396912"/>
            <a:ext cx="1751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thread’s view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4409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Traversals: Inconsistent View</a:t>
            </a:r>
          </a:p>
        </p:txBody>
      </p:sp>
      <p:sp>
        <p:nvSpPr>
          <p:cNvPr id="25" name="Oval 24"/>
          <p:cNvSpPr/>
          <p:nvPr/>
        </p:nvSpPr>
        <p:spPr>
          <a:xfrm>
            <a:off x="3016713" y="2382148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2219112" y="2522813"/>
            <a:ext cx="818201" cy="5169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099048" y="2997671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840062" y="2002425"/>
            <a:ext cx="267997" cy="38742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165751" y="2292821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sp>
        <p:nvSpPr>
          <p:cNvPr id="36" name="Oval 35"/>
          <p:cNvSpPr/>
          <p:nvPr/>
        </p:nvSpPr>
        <p:spPr>
          <a:xfrm>
            <a:off x="6248086" y="2908344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sp>
        <p:nvSpPr>
          <p:cNvPr id="38" name="Oval 37"/>
          <p:cNvSpPr/>
          <p:nvPr/>
        </p:nvSpPr>
        <p:spPr>
          <a:xfrm>
            <a:off x="5322460" y="3508668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989100" y="1913098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473886" y="4042156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44" name="Straight Arrow Connector 43"/>
          <p:cNvCxnSpPr>
            <a:endCxn id="43" idx="0"/>
          </p:cNvCxnSpPr>
          <p:nvPr/>
        </p:nvCxnSpPr>
        <p:spPr>
          <a:xfrm flipH="1">
            <a:off x="4614551" y="3566935"/>
            <a:ext cx="731028" cy="47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234021" y="295972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47" name="Straight Arrow Connector 46"/>
          <p:cNvCxnSpPr>
            <a:endCxn id="46" idx="0"/>
          </p:cNvCxnSpPr>
          <p:nvPr/>
        </p:nvCxnSpPr>
        <p:spPr>
          <a:xfrm>
            <a:off x="7447080" y="2402543"/>
            <a:ext cx="927606" cy="557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5579626" y="3580808"/>
            <a:ext cx="666499" cy="45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140661" y="401826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sp>
        <p:nvSpPr>
          <p:cNvPr id="3" name="Freeform 2"/>
          <p:cNvSpPr/>
          <p:nvPr/>
        </p:nvSpPr>
        <p:spPr>
          <a:xfrm>
            <a:off x="5467149" y="2348564"/>
            <a:ext cx="1713297" cy="1174282"/>
          </a:xfrm>
          <a:custGeom>
            <a:avLst/>
            <a:gdLst>
              <a:gd name="connsiteX0" fmla="*/ 1713297 w 1713297"/>
              <a:gd name="connsiteY0" fmla="*/ 0 h 1174282"/>
              <a:gd name="connsiteX1" fmla="*/ 567891 w 1713297"/>
              <a:gd name="connsiteY1" fmla="*/ 298383 h 1174282"/>
              <a:gd name="connsiteX2" fmla="*/ 0 w 1713297"/>
              <a:gd name="connsiteY2" fmla="*/ 1174282 h 117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3297" h="1174282">
                <a:moveTo>
                  <a:pt x="1713297" y="0"/>
                </a:moveTo>
                <a:cubicBezTo>
                  <a:pt x="1283368" y="51334"/>
                  <a:pt x="853440" y="102669"/>
                  <a:pt x="567891" y="298383"/>
                </a:cubicBezTo>
                <a:cubicBezTo>
                  <a:pt x="282341" y="494097"/>
                  <a:pt x="80210" y="1070009"/>
                  <a:pt x="0" y="117428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5463125" y="2991677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24"/>
          <p:cNvGrpSpPr>
            <a:grpSpLocks/>
          </p:cNvGrpSpPr>
          <p:nvPr/>
        </p:nvGrpSpPr>
        <p:grpSpPr bwMode="auto">
          <a:xfrm rot="-277548">
            <a:off x="6516798" y="3106621"/>
            <a:ext cx="733214" cy="485100"/>
            <a:chOff x="3168" y="1824"/>
            <a:chExt cx="912" cy="816"/>
          </a:xfrm>
        </p:grpSpPr>
        <p:sp>
          <p:nvSpPr>
            <p:cNvPr id="42" name="Freeform 25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Freeform 26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27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3 h 336"/>
                <a:gd name="T2" fmla="*/ 96 w 144"/>
                <a:gd name="T3" fmla="*/ 0 h 336"/>
                <a:gd name="T4" fmla="*/ 144 w 144"/>
                <a:gd name="T5" fmla="*/ 3 h 336"/>
                <a:gd name="T6" fmla="*/ 144 w 144"/>
                <a:gd name="T7" fmla="*/ 3 h 336"/>
                <a:gd name="T8" fmla="*/ 96 w 144"/>
                <a:gd name="T9" fmla="*/ 3 h 336"/>
                <a:gd name="T10" fmla="*/ 96 w 144"/>
                <a:gd name="T11" fmla="*/ 3 h 336"/>
                <a:gd name="T12" fmla="*/ 0 w 144"/>
                <a:gd name="T13" fmla="*/ 3 h 336"/>
                <a:gd name="T14" fmla="*/ 0 w 144"/>
                <a:gd name="T15" fmla="*/ 3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Freeform 28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Freeform 29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Freeform 30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Freeform 31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2 h 432"/>
                <a:gd name="T4" fmla="*/ 1 w 336"/>
                <a:gd name="T5" fmla="*/ 2 h 432"/>
                <a:gd name="T6" fmla="*/ 1 w 336"/>
                <a:gd name="T7" fmla="*/ 2 h 432"/>
                <a:gd name="T8" fmla="*/ 0 w 336"/>
                <a:gd name="T9" fmla="*/ 2 h 432"/>
                <a:gd name="T10" fmla="*/ 0 w 336"/>
                <a:gd name="T11" fmla="*/ 2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Freeform 32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Freeform 33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6166471" y="4490743"/>
            <a:ext cx="124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remove(4)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03265" y="1459856"/>
            <a:ext cx="20689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7030A0"/>
                </a:solidFill>
              </a:rPr>
              <a:t>c</a:t>
            </a:r>
            <a:r>
              <a:rPr lang="en-US" sz="2600" b="1" dirty="0" smtClean="0">
                <a:solidFill>
                  <a:srgbClr val="7030A0"/>
                </a:solidFill>
              </a:rPr>
              <a:t>ontains(3)?</a:t>
            </a:r>
            <a:endParaRPr lang="en-US" sz="2600" b="1" dirty="0">
              <a:solidFill>
                <a:srgbClr val="7030A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31374" y="1417649"/>
            <a:ext cx="189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global memory</a:t>
            </a:r>
            <a:endParaRPr lang="en-US" sz="2200" dirty="0"/>
          </a:p>
        </p:txBody>
      </p:sp>
      <p:sp>
        <p:nvSpPr>
          <p:cNvPr id="33" name="TextBox 32"/>
          <p:cNvSpPr txBox="1"/>
          <p:nvPr/>
        </p:nvSpPr>
        <p:spPr>
          <a:xfrm>
            <a:off x="1284216" y="1396912"/>
            <a:ext cx="1751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thread’s view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93579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Traversals: Inconsistent View</a:t>
            </a:r>
          </a:p>
        </p:txBody>
      </p:sp>
      <p:sp>
        <p:nvSpPr>
          <p:cNvPr id="25" name="Oval 24"/>
          <p:cNvSpPr/>
          <p:nvPr/>
        </p:nvSpPr>
        <p:spPr>
          <a:xfrm>
            <a:off x="3016713" y="2382148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2219112" y="2522813"/>
            <a:ext cx="818201" cy="5169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099048" y="2997671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24" name="Straight Arrow Connector 23"/>
          <p:cNvCxnSpPr>
            <a:endCxn id="26" idx="0"/>
          </p:cNvCxnSpPr>
          <p:nvPr/>
        </p:nvCxnSpPr>
        <p:spPr>
          <a:xfrm flipH="1">
            <a:off x="1314087" y="3081004"/>
            <a:ext cx="818201" cy="5169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73422" y="3597995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840062" y="2002425"/>
            <a:ext cx="267997" cy="38742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165751" y="2292821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sp>
        <p:nvSpPr>
          <p:cNvPr id="36" name="Oval 35"/>
          <p:cNvSpPr/>
          <p:nvPr/>
        </p:nvSpPr>
        <p:spPr>
          <a:xfrm>
            <a:off x="6248086" y="2908344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37" name="Straight Arrow Connector 36"/>
          <p:cNvCxnSpPr>
            <a:endCxn id="38" idx="0"/>
          </p:cNvCxnSpPr>
          <p:nvPr/>
        </p:nvCxnSpPr>
        <p:spPr>
          <a:xfrm flipH="1">
            <a:off x="5463125" y="2991677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322460" y="3508668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989100" y="1913098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473886" y="4042156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44" name="Straight Arrow Connector 43"/>
          <p:cNvCxnSpPr>
            <a:endCxn id="43" idx="0"/>
          </p:cNvCxnSpPr>
          <p:nvPr/>
        </p:nvCxnSpPr>
        <p:spPr>
          <a:xfrm flipH="1">
            <a:off x="4614551" y="3566935"/>
            <a:ext cx="731028" cy="47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234021" y="295972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47" name="Straight Arrow Connector 46"/>
          <p:cNvCxnSpPr>
            <a:endCxn id="46" idx="0"/>
          </p:cNvCxnSpPr>
          <p:nvPr/>
        </p:nvCxnSpPr>
        <p:spPr>
          <a:xfrm>
            <a:off x="7447080" y="2402543"/>
            <a:ext cx="927606" cy="557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5579626" y="3580808"/>
            <a:ext cx="666499" cy="45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140661" y="401826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sp>
        <p:nvSpPr>
          <p:cNvPr id="22" name="Freeform 21"/>
          <p:cNvSpPr/>
          <p:nvPr/>
        </p:nvSpPr>
        <p:spPr>
          <a:xfrm>
            <a:off x="5467149" y="2348564"/>
            <a:ext cx="1713297" cy="1174282"/>
          </a:xfrm>
          <a:custGeom>
            <a:avLst/>
            <a:gdLst>
              <a:gd name="connsiteX0" fmla="*/ 1713297 w 1713297"/>
              <a:gd name="connsiteY0" fmla="*/ 0 h 1174282"/>
              <a:gd name="connsiteX1" fmla="*/ 567891 w 1713297"/>
              <a:gd name="connsiteY1" fmla="*/ 298383 h 1174282"/>
              <a:gd name="connsiteX2" fmla="*/ 0 w 1713297"/>
              <a:gd name="connsiteY2" fmla="*/ 1174282 h 117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3297" h="1174282">
                <a:moveTo>
                  <a:pt x="1713297" y="0"/>
                </a:moveTo>
                <a:cubicBezTo>
                  <a:pt x="1283368" y="51334"/>
                  <a:pt x="853440" y="102669"/>
                  <a:pt x="567891" y="298383"/>
                </a:cubicBezTo>
                <a:cubicBezTo>
                  <a:pt x="282341" y="494097"/>
                  <a:pt x="80210" y="1070009"/>
                  <a:pt x="0" y="117428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4"/>
          <p:cNvGrpSpPr>
            <a:grpSpLocks/>
          </p:cNvGrpSpPr>
          <p:nvPr/>
        </p:nvGrpSpPr>
        <p:grpSpPr bwMode="auto">
          <a:xfrm rot="-277548">
            <a:off x="4658584" y="3161198"/>
            <a:ext cx="733214" cy="485100"/>
            <a:chOff x="3168" y="1824"/>
            <a:chExt cx="912" cy="816"/>
          </a:xfrm>
        </p:grpSpPr>
        <p:sp>
          <p:nvSpPr>
            <p:cNvPr id="29" name="Freeform 25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Freeform 26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27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3 h 336"/>
                <a:gd name="T2" fmla="*/ 96 w 144"/>
                <a:gd name="T3" fmla="*/ 0 h 336"/>
                <a:gd name="T4" fmla="*/ 144 w 144"/>
                <a:gd name="T5" fmla="*/ 3 h 336"/>
                <a:gd name="T6" fmla="*/ 144 w 144"/>
                <a:gd name="T7" fmla="*/ 3 h 336"/>
                <a:gd name="T8" fmla="*/ 96 w 144"/>
                <a:gd name="T9" fmla="*/ 3 h 336"/>
                <a:gd name="T10" fmla="*/ 96 w 144"/>
                <a:gd name="T11" fmla="*/ 3 h 336"/>
                <a:gd name="T12" fmla="*/ 0 w 144"/>
                <a:gd name="T13" fmla="*/ 3 h 336"/>
                <a:gd name="T14" fmla="*/ 0 w 144"/>
                <a:gd name="T15" fmla="*/ 3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Freeform 28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Freeform 29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30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Freeform 31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2 h 432"/>
                <a:gd name="T4" fmla="*/ 1 w 336"/>
                <a:gd name="T5" fmla="*/ 2 h 432"/>
                <a:gd name="T6" fmla="*/ 1 w 336"/>
                <a:gd name="T7" fmla="*/ 2 h 432"/>
                <a:gd name="T8" fmla="*/ 0 w 336"/>
                <a:gd name="T9" fmla="*/ 2 h 432"/>
                <a:gd name="T10" fmla="*/ 0 w 336"/>
                <a:gd name="T11" fmla="*/ 2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Freeform 32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Freeform 33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3803265" y="1459856"/>
            <a:ext cx="20689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7030A0"/>
                </a:solidFill>
              </a:rPr>
              <a:t>c</a:t>
            </a:r>
            <a:r>
              <a:rPr lang="en-US" sz="2600" b="1" dirty="0" smtClean="0">
                <a:solidFill>
                  <a:srgbClr val="7030A0"/>
                </a:solidFill>
              </a:rPr>
              <a:t>ontains(3)?</a:t>
            </a:r>
            <a:endParaRPr lang="en-US" sz="2600" b="1" dirty="0">
              <a:solidFill>
                <a:srgbClr val="7030A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31374" y="1417649"/>
            <a:ext cx="189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global memory</a:t>
            </a:r>
            <a:endParaRPr lang="en-US" sz="2200" dirty="0"/>
          </a:p>
        </p:txBody>
      </p:sp>
      <p:sp>
        <p:nvSpPr>
          <p:cNvPr id="52" name="TextBox 51"/>
          <p:cNvSpPr txBox="1"/>
          <p:nvPr/>
        </p:nvSpPr>
        <p:spPr>
          <a:xfrm>
            <a:off x="1284216" y="1396912"/>
            <a:ext cx="1751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thread’s view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40080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Traversals: Inconsistent View</a:t>
            </a:r>
          </a:p>
        </p:txBody>
      </p:sp>
      <p:sp>
        <p:nvSpPr>
          <p:cNvPr id="25" name="Oval 24"/>
          <p:cNvSpPr/>
          <p:nvPr/>
        </p:nvSpPr>
        <p:spPr>
          <a:xfrm>
            <a:off x="3016713" y="2382148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2219112" y="2522813"/>
            <a:ext cx="818201" cy="5169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099048" y="2997671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24" name="Straight Arrow Connector 23"/>
          <p:cNvCxnSpPr>
            <a:endCxn id="26" idx="0"/>
          </p:cNvCxnSpPr>
          <p:nvPr/>
        </p:nvCxnSpPr>
        <p:spPr>
          <a:xfrm flipH="1">
            <a:off x="1314087" y="3081004"/>
            <a:ext cx="818201" cy="5169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73422" y="3597995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840062" y="2002425"/>
            <a:ext cx="267997" cy="38742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165751" y="2292821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sp>
        <p:nvSpPr>
          <p:cNvPr id="36" name="Oval 35"/>
          <p:cNvSpPr/>
          <p:nvPr/>
        </p:nvSpPr>
        <p:spPr>
          <a:xfrm>
            <a:off x="6248086" y="2908344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37" name="Straight Arrow Connector 36"/>
          <p:cNvCxnSpPr>
            <a:endCxn id="38" idx="0"/>
          </p:cNvCxnSpPr>
          <p:nvPr/>
        </p:nvCxnSpPr>
        <p:spPr>
          <a:xfrm flipH="1">
            <a:off x="5463125" y="2991677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322460" y="3508668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989100" y="1913098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473886" y="4042156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44" name="Straight Arrow Connector 43"/>
          <p:cNvCxnSpPr>
            <a:endCxn id="43" idx="0"/>
          </p:cNvCxnSpPr>
          <p:nvPr/>
        </p:nvCxnSpPr>
        <p:spPr>
          <a:xfrm flipH="1">
            <a:off x="4614551" y="3566935"/>
            <a:ext cx="731028" cy="47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234021" y="295972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47" name="Straight Arrow Connector 46"/>
          <p:cNvCxnSpPr>
            <a:endCxn id="46" idx="0"/>
          </p:cNvCxnSpPr>
          <p:nvPr/>
        </p:nvCxnSpPr>
        <p:spPr>
          <a:xfrm>
            <a:off x="7447080" y="2402543"/>
            <a:ext cx="927606" cy="557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5467149" y="2348564"/>
            <a:ext cx="1713297" cy="1174282"/>
          </a:xfrm>
          <a:custGeom>
            <a:avLst/>
            <a:gdLst>
              <a:gd name="connsiteX0" fmla="*/ 1713297 w 1713297"/>
              <a:gd name="connsiteY0" fmla="*/ 0 h 1174282"/>
              <a:gd name="connsiteX1" fmla="*/ 567891 w 1713297"/>
              <a:gd name="connsiteY1" fmla="*/ 298383 h 1174282"/>
              <a:gd name="connsiteX2" fmla="*/ 0 w 1713297"/>
              <a:gd name="connsiteY2" fmla="*/ 1174282 h 117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3297" h="1174282">
                <a:moveTo>
                  <a:pt x="1713297" y="0"/>
                </a:moveTo>
                <a:cubicBezTo>
                  <a:pt x="1283368" y="51334"/>
                  <a:pt x="853440" y="102669"/>
                  <a:pt x="567891" y="298383"/>
                </a:cubicBezTo>
                <a:cubicBezTo>
                  <a:pt x="282341" y="494097"/>
                  <a:pt x="80210" y="1070009"/>
                  <a:pt x="0" y="117428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24"/>
          <p:cNvGrpSpPr>
            <a:grpSpLocks/>
          </p:cNvGrpSpPr>
          <p:nvPr/>
        </p:nvGrpSpPr>
        <p:grpSpPr bwMode="auto">
          <a:xfrm rot="-277548">
            <a:off x="4658584" y="3161198"/>
            <a:ext cx="733214" cy="485100"/>
            <a:chOff x="3168" y="1824"/>
            <a:chExt cx="912" cy="816"/>
          </a:xfrm>
        </p:grpSpPr>
        <p:sp>
          <p:nvSpPr>
            <p:cNvPr id="22" name="Freeform 25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3 h 336"/>
                <a:gd name="T2" fmla="*/ 96 w 144"/>
                <a:gd name="T3" fmla="*/ 0 h 336"/>
                <a:gd name="T4" fmla="*/ 144 w 144"/>
                <a:gd name="T5" fmla="*/ 3 h 336"/>
                <a:gd name="T6" fmla="*/ 144 w 144"/>
                <a:gd name="T7" fmla="*/ 3 h 336"/>
                <a:gd name="T8" fmla="*/ 96 w 144"/>
                <a:gd name="T9" fmla="*/ 3 h 336"/>
                <a:gd name="T10" fmla="*/ 96 w 144"/>
                <a:gd name="T11" fmla="*/ 3 h 336"/>
                <a:gd name="T12" fmla="*/ 0 w 144"/>
                <a:gd name="T13" fmla="*/ 3 h 336"/>
                <a:gd name="T14" fmla="*/ 0 w 144"/>
                <a:gd name="T15" fmla="*/ 3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2 h 432"/>
                <a:gd name="T4" fmla="*/ 1 w 336"/>
                <a:gd name="T5" fmla="*/ 2 h 432"/>
                <a:gd name="T6" fmla="*/ 1 w 336"/>
                <a:gd name="T7" fmla="*/ 2 h 432"/>
                <a:gd name="T8" fmla="*/ 0 w 336"/>
                <a:gd name="T9" fmla="*/ 2 h 432"/>
                <a:gd name="T10" fmla="*/ 0 w 336"/>
                <a:gd name="T11" fmla="*/ 2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32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Freeform 33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6166471" y="4490743"/>
            <a:ext cx="124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remove(3)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03265" y="1459856"/>
            <a:ext cx="20689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7030A0"/>
                </a:solidFill>
              </a:rPr>
              <a:t>c</a:t>
            </a:r>
            <a:r>
              <a:rPr lang="en-US" sz="2600" b="1" dirty="0" smtClean="0">
                <a:solidFill>
                  <a:srgbClr val="7030A0"/>
                </a:solidFill>
              </a:rPr>
              <a:t>ontains(3)?</a:t>
            </a:r>
            <a:endParaRPr lang="en-US" sz="2600" b="1" dirty="0">
              <a:solidFill>
                <a:srgbClr val="7030A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31374" y="1417649"/>
            <a:ext cx="189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global memory</a:t>
            </a:r>
            <a:endParaRPr lang="en-US" sz="2200" dirty="0"/>
          </a:p>
        </p:txBody>
      </p:sp>
      <p:sp>
        <p:nvSpPr>
          <p:cNvPr id="45" name="TextBox 44"/>
          <p:cNvSpPr txBox="1"/>
          <p:nvPr/>
        </p:nvSpPr>
        <p:spPr>
          <a:xfrm>
            <a:off x="1284216" y="1396912"/>
            <a:ext cx="1751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thread’s view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90101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Traversals: Inconsistent View</a:t>
            </a:r>
          </a:p>
        </p:txBody>
      </p:sp>
      <p:sp>
        <p:nvSpPr>
          <p:cNvPr id="25" name="Oval 24"/>
          <p:cNvSpPr/>
          <p:nvPr/>
        </p:nvSpPr>
        <p:spPr>
          <a:xfrm>
            <a:off x="3016713" y="2382148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2219112" y="2522813"/>
            <a:ext cx="818201" cy="5169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099048" y="2997671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24" name="Straight Arrow Connector 23"/>
          <p:cNvCxnSpPr>
            <a:endCxn id="26" idx="0"/>
          </p:cNvCxnSpPr>
          <p:nvPr/>
        </p:nvCxnSpPr>
        <p:spPr>
          <a:xfrm flipH="1">
            <a:off x="1314087" y="3081004"/>
            <a:ext cx="818201" cy="5169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73422" y="3597995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840062" y="2002425"/>
            <a:ext cx="267997" cy="38742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31" idx="0"/>
          </p:cNvCxnSpPr>
          <p:nvPr/>
        </p:nvCxnSpPr>
        <p:spPr>
          <a:xfrm>
            <a:off x="1430588" y="3670135"/>
            <a:ext cx="666499" cy="45132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13796" y="4121463"/>
            <a:ext cx="566581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null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7165751" y="2292821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sp>
        <p:nvSpPr>
          <p:cNvPr id="36" name="Oval 35"/>
          <p:cNvSpPr/>
          <p:nvPr/>
        </p:nvSpPr>
        <p:spPr>
          <a:xfrm>
            <a:off x="6248086" y="2908344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37" name="Straight Arrow Connector 36"/>
          <p:cNvCxnSpPr>
            <a:endCxn id="38" idx="0"/>
          </p:cNvCxnSpPr>
          <p:nvPr/>
        </p:nvCxnSpPr>
        <p:spPr>
          <a:xfrm flipH="1">
            <a:off x="5463125" y="2991677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322460" y="3508668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989100" y="1913098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473886" y="4042156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44" name="Straight Arrow Connector 43"/>
          <p:cNvCxnSpPr>
            <a:endCxn id="43" idx="0"/>
          </p:cNvCxnSpPr>
          <p:nvPr/>
        </p:nvCxnSpPr>
        <p:spPr>
          <a:xfrm flipH="1">
            <a:off x="4614551" y="3566935"/>
            <a:ext cx="731028" cy="47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234021" y="295972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47" name="Straight Arrow Connector 46"/>
          <p:cNvCxnSpPr>
            <a:endCxn id="46" idx="0"/>
          </p:cNvCxnSpPr>
          <p:nvPr/>
        </p:nvCxnSpPr>
        <p:spPr>
          <a:xfrm>
            <a:off x="7447080" y="2402543"/>
            <a:ext cx="927606" cy="557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5467149" y="2348564"/>
            <a:ext cx="1713297" cy="1174282"/>
          </a:xfrm>
          <a:custGeom>
            <a:avLst/>
            <a:gdLst>
              <a:gd name="connsiteX0" fmla="*/ 1713297 w 1713297"/>
              <a:gd name="connsiteY0" fmla="*/ 0 h 1174282"/>
              <a:gd name="connsiteX1" fmla="*/ 567891 w 1713297"/>
              <a:gd name="connsiteY1" fmla="*/ 298383 h 1174282"/>
              <a:gd name="connsiteX2" fmla="*/ 0 w 1713297"/>
              <a:gd name="connsiteY2" fmla="*/ 1174282 h 117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3297" h="1174282">
                <a:moveTo>
                  <a:pt x="1713297" y="0"/>
                </a:moveTo>
                <a:cubicBezTo>
                  <a:pt x="1283368" y="51334"/>
                  <a:pt x="853440" y="102669"/>
                  <a:pt x="567891" y="298383"/>
                </a:cubicBezTo>
                <a:cubicBezTo>
                  <a:pt x="282341" y="494097"/>
                  <a:pt x="80210" y="1070009"/>
                  <a:pt x="0" y="117428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24"/>
          <p:cNvGrpSpPr>
            <a:grpSpLocks/>
          </p:cNvGrpSpPr>
          <p:nvPr/>
        </p:nvGrpSpPr>
        <p:grpSpPr bwMode="auto">
          <a:xfrm rot="-277548">
            <a:off x="5637169" y="3892484"/>
            <a:ext cx="733214" cy="485100"/>
            <a:chOff x="3168" y="1824"/>
            <a:chExt cx="912" cy="816"/>
          </a:xfrm>
        </p:grpSpPr>
        <p:sp>
          <p:nvSpPr>
            <p:cNvPr id="33" name="Freeform 25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Freeform 26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Freeform 27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3 h 336"/>
                <a:gd name="T2" fmla="*/ 96 w 144"/>
                <a:gd name="T3" fmla="*/ 0 h 336"/>
                <a:gd name="T4" fmla="*/ 144 w 144"/>
                <a:gd name="T5" fmla="*/ 3 h 336"/>
                <a:gd name="T6" fmla="*/ 144 w 144"/>
                <a:gd name="T7" fmla="*/ 3 h 336"/>
                <a:gd name="T8" fmla="*/ 96 w 144"/>
                <a:gd name="T9" fmla="*/ 3 h 336"/>
                <a:gd name="T10" fmla="*/ 96 w 144"/>
                <a:gd name="T11" fmla="*/ 3 h 336"/>
                <a:gd name="T12" fmla="*/ 0 w 144"/>
                <a:gd name="T13" fmla="*/ 3 h 336"/>
                <a:gd name="T14" fmla="*/ 0 w 144"/>
                <a:gd name="T15" fmla="*/ 3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28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Freeform 29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Freeform 30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Freeform 31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2 h 432"/>
                <a:gd name="T4" fmla="*/ 1 w 336"/>
                <a:gd name="T5" fmla="*/ 2 h 432"/>
                <a:gd name="T6" fmla="*/ 1 w 336"/>
                <a:gd name="T7" fmla="*/ 2 h 432"/>
                <a:gd name="T8" fmla="*/ 0 w 336"/>
                <a:gd name="T9" fmla="*/ 2 h 432"/>
                <a:gd name="T10" fmla="*/ 0 w 336"/>
                <a:gd name="T11" fmla="*/ 2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Freeform 32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Freeform 33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3803265" y="1459856"/>
            <a:ext cx="20689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7030A0"/>
                </a:solidFill>
              </a:rPr>
              <a:t>c</a:t>
            </a:r>
            <a:r>
              <a:rPr lang="en-US" sz="2600" b="1" dirty="0" smtClean="0">
                <a:solidFill>
                  <a:srgbClr val="7030A0"/>
                </a:solidFill>
              </a:rPr>
              <a:t>ontains(3)?</a:t>
            </a:r>
            <a:endParaRPr lang="en-US" sz="2600" b="1" dirty="0">
              <a:solidFill>
                <a:srgbClr val="7030A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31374" y="1417649"/>
            <a:ext cx="189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global memory</a:t>
            </a:r>
            <a:endParaRPr lang="en-US" sz="2200" dirty="0"/>
          </a:p>
        </p:txBody>
      </p:sp>
      <p:sp>
        <p:nvSpPr>
          <p:cNvPr id="42" name="TextBox 41"/>
          <p:cNvSpPr txBox="1"/>
          <p:nvPr/>
        </p:nvSpPr>
        <p:spPr>
          <a:xfrm>
            <a:off x="1284216" y="1396912"/>
            <a:ext cx="1751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thread’s view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03501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Traversals: Inconsistent View</a:t>
            </a:r>
          </a:p>
        </p:txBody>
      </p:sp>
      <p:sp>
        <p:nvSpPr>
          <p:cNvPr id="25" name="Oval 24"/>
          <p:cNvSpPr/>
          <p:nvPr/>
        </p:nvSpPr>
        <p:spPr>
          <a:xfrm>
            <a:off x="3016713" y="2382148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2219112" y="2522813"/>
            <a:ext cx="818201" cy="5169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099048" y="2997671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24" name="Straight Arrow Connector 23"/>
          <p:cNvCxnSpPr>
            <a:endCxn id="26" idx="0"/>
          </p:cNvCxnSpPr>
          <p:nvPr/>
        </p:nvCxnSpPr>
        <p:spPr>
          <a:xfrm flipH="1">
            <a:off x="1314087" y="3081004"/>
            <a:ext cx="818201" cy="5169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73422" y="3597995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840062" y="2002425"/>
            <a:ext cx="267997" cy="38742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31" idx="0"/>
          </p:cNvCxnSpPr>
          <p:nvPr/>
        </p:nvCxnSpPr>
        <p:spPr>
          <a:xfrm>
            <a:off x="1430588" y="3670135"/>
            <a:ext cx="666499" cy="45132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13796" y="4121463"/>
            <a:ext cx="566581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null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7165751" y="2292821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sp>
        <p:nvSpPr>
          <p:cNvPr id="36" name="Oval 35"/>
          <p:cNvSpPr/>
          <p:nvPr/>
        </p:nvSpPr>
        <p:spPr>
          <a:xfrm>
            <a:off x="6248086" y="2908344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37" name="Straight Arrow Connector 36"/>
          <p:cNvCxnSpPr>
            <a:endCxn id="38" idx="0"/>
          </p:cNvCxnSpPr>
          <p:nvPr/>
        </p:nvCxnSpPr>
        <p:spPr>
          <a:xfrm flipH="1">
            <a:off x="5463125" y="2991677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322460" y="3508668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989100" y="1913098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473886" y="4042156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44" name="Straight Arrow Connector 43"/>
          <p:cNvCxnSpPr>
            <a:endCxn id="43" idx="0"/>
          </p:cNvCxnSpPr>
          <p:nvPr/>
        </p:nvCxnSpPr>
        <p:spPr>
          <a:xfrm flipH="1">
            <a:off x="4614551" y="3566935"/>
            <a:ext cx="731028" cy="47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234021" y="295972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47" name="Straight Arrow Connector 46"/>
          <p:cNvCxnSpPr>
            <a:endCxn id="46" idx="0"/>
          </p:cNvCxnSpPr>
          <p:nvPr/>
        </p:nvCxnSpPr>
        <p:spPr>
          <a:xfrm>
            <a:off x="7447080" y="2402543"/>
            <a:ext cx="927606" cy="557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5467149" y="2348564"/>
            <a:ext cx="1713297" cy="1174282"/>
          </a:xfrm>
          <a:custGeom>
            <a:avLst/>
            <a:gdLst>
              <a:gd name="connsiteX0" fmla="*/ 1713297 w 1713297"/>
              <a:gd name="connsiteY0" fmla="*/ 0 h 1174282"/>
              <a:gd name="connsiteX1" fmla="*/ 567891 w 1713297"/>
              <a:gd name="connsiteY1" fmla="*/ 298383 h 1174282"/>
              <a:gd name="connsiteX2" fmla="*/ 0 w 1713297"/>
              <a:gd name="connsiteY2" fmla="*/ 1174282 h 117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3297" h="1174282">
                <a:moveTo>
                  <a:pt x="1713297" y="0"/>
                </a:moveTo>
                <a:cubicBezTo>
                  <a:pt x="1283368" y="51334"/>
                  <a:pt x="853440" y="102669"/>
                  <a:pt x="567891" y="298383"/>
                </a:cubicBezTo>
                <a:cubicBezTo>
                  <a:pt x="282341" y="494097"/>
                  <a:pt x="80210" y="1070009"/>
                  <a:pt x="0" y="117428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/>
          <p:cNvSpPr/>
          <p:nvPr/>
        </p:nvSpPr>
        <p:spPr>
          <a:xfrm>
            <a:off x="3854309" y="5367684"/>
            <a:ext cx="1520481" cy="298559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39" y="5168606"/>
            <a:ext cx="2137520" cy="52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3691306" y="1459856"/>
            <a:ext cx="242087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7030A0"/>
                </a:solidFill>
              </a:rPr>
              <a:t>c</a:t>
            </a:r>
            <a:r>
              <a:rPr lang="en-US" sz="2600" b="1" dirty="0" smtClean="0">
                <a:solidFill>
                  <a:srgbClr val="7030A0"/>
                </a:solidFill>
              </a:rPr>
              <a:t>ontains(3)? no</a:t>
            </a:r>
            <a:endParaRPr lang="en-US" sz="2600" b="1" dirty="0">
              <a:solidFill>
                <a:srgbClr val="7030A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31374" y="1417649"/>
            <a:ext cx="189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global memory</a:t>
            </a:r>
            <a:endParaRPr lang="en-US" sz="2200" dirty="0"/>
          </a:p>
        </p:txBody>
      </p:sp>
      <p:sp>
        <p:nvSpPr>
          <p:cNvPr id="35" name="TextBox 34"/>
          <p:cNvSpPr txBox="1"/>
          <p:nvPr/>
        </p:nvSpPr>
        <p:spPr>
          <a:xfrm>
            <a:off x="1284216" y="1396912"/>
            <a:ext cx="1751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thread’s view</a:t>
            </a:r>
            <a:endParaRPr lang="en-US" sz="2200" dirty="0"/>
          </a:p>
        </p:txBody>
      </p:sp>
      <p:sp>
        <p:nvSpPr>
          <p:cNvPr id="40" name="TextBox 39"/>
          <p:cNvSpPr txBox="1"/>
          <p:nvPr/>
        </p:nvSpPr>
        <p:spPr>
          <a:xfrm>
            <a:off x="847452" y="5788600"/>
            <a:ext cx="2383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2"/>
                </a:solidFill>
              </a:rPr>
              <a:t>contains(3):</a:t>
            </a:r>
            <a:r>
              <a:rPr lang="en-US" sz="2400" b="1" dirty="0" smtClean="0">
                <a:solidFill>
                  <a:schemeClr val="accent2"/>
                </a:solidFill>
              </a:rPr>
              <a:t> false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87421" y="5788600"/>
            <a:ext cx="23818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1"/>
                </a:solidFill>
              </a:rPr>
              <a:t>contains(3): </a:t>
            </a:r>
            <a:r>
              <a:rPr lang="en-US" sz="2400" b="1" dirty="0" smtClean="0">
                <a:solidFill>
                  <a:schemeClr val="accent1"/>
                </a:solidFill>
              </a:rPr>
              <a:t>false</a:t>
            </a:r>
            <a:br>
              <a:rPr lang="en-US" sz="2400" b="1" dirty="0" smtClean="0">
                <a:solidFill>
                  <a:schemeClr val="accent1"/>
                </a:solidFill>
              </a:rPr>
            </a:br>
            <a:r>
              <a:rPr lang="en-US" sz="2400" b="1" dirty="0" smtClean="0">
                <a:solidFill>
                  <a:schemeClr val="accent1"/>
                </a:solidFill>
              </a:rPr>
              <a:t>at some point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225" y="5166749"/>
            <a:ext cx="2757737" cy="603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66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Traversals: Inconsistent View</a:t>
            </a:r>
          </a:p>
        </p:txBody>
      </p:sp>
      <p:sp>
        <p:nvSpPr>
          <p:cNvPr id="25" name="Oval 24"/>
          <p:cNvSpPr/>
          <p:nvPr/>
        </p:nvSpPr>
        <p:spPr>
          <a:xfrm>
            <a:off x="3016713" y="2382148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2219112" y="2522813"/>
            <a:ext cx="818201" cy="5169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099048" y="2997671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24" name="Straight Arrow Connector 23"/>
          <p:cNvCxnSpPr>
            <a:endCxn id="26" idx="0"/>
          </p:cNvCxnSpPr>
          <p:nvPr/>
        </p:nvCxnSpPr>
        <p:spPr>
          <a:xfrm flipH="1">
            <a:off x="1314087" y="3081004"/>
            <a:ext cx="818201" cy="5169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73422" y="3597995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840062" y="2002425"/>
            <a:ext cx="267997" cy="38742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31" idx="0"/>
          </p:cNvCxnSpPr>
          <p:nvPr/>
        </p:nvCxnSpPr>
        <p:spPr>
          <a:xfrm>
            <a:off x="1430588" y="3670135"/>
            <a:ext cx="666499" cy="45132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13796" y="4121463"/>
            <a:ext cx="566581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null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7165751" y="2292821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sp>
        <p:nvSpPr>
          <p:cNvPr id="36" name="Oval 35"/>
          <p:cNvSpPr/>
          <p:nvPr/>
        </p:nvSpPr>
        <p:spPr>
          <a:xfrm>
            <a:off x="6248086" y="2908344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37" name="Straight Arrow Connector 36"/>
          <p:cNvCxnSpPr>
            <a:endCxn id="38" idx="0"/>
          </p:cNvCxnSpPr>
          <p:nvPr/>
        </p:nvCxnSpPr>
        <p:spPr>
          <a:xfrm flipH="1">
            <a:off x="5463125" y="2991677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322460" y="3508668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989100" y="1913098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473886" y="4042156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44" name="Straight Arrow Connector 43"/>
          <p:cNvCxnSpPr>
            <a:endCxn id="43" idx="0"/>
          </p:cNvCxnSpPr>
          <p:nvPr/>
        </p:nvCxnSpPr>
        <p:spPr>
          <a:xfrm flipH="1">
            <a:off x="4614551" y="3566935"/>
            <a:ext cx="731028" cy="47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234021" y="295972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47" name="Straight Arrow Connector 46"/>
          <p:cNvCxnSpPr>
            <a:endCxn id="46" idx="0"/>
          </p:cNvCxnSpPr>
          <p:nvPr/>
        </p:nvCxnSpPr>
        <p:spPr>
          <a:xfrm>
            <a:off x="7447080" y="2402543"/>
            <a:ext cx="927606" cy="557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5467149" y="2348564"/>
            <a:ext cx="1713297" cy="1174282"/>
          </a:xfrm>
          <a:custGeom>
            <a:avLst/>
            <a:gdLst>
              <a:gd name="connsiteX0" fmla="*/ 1713297 w 1713297"/>
              <a:gd name="connsiteY0" fmla="*/ 0 h 1174282"/>
              <a:gd name="connsiteX1" fmla="*/ 567891 w 1713297"/>
              <a:gd name="connsiteY1" fmla="*/ 298383 h 1174282"/>
              <a:gd name="connsiteX2" fmla="*/ 0 w 1713297"/>
              <a:gd name="connsiteY2" fmla="*/ 1174282 h 117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3297" h="1174282">
                <a:moveTo>
                  <a:pt x="1713297" y="0"/>
                </a:moveTo>
                <a:cubicBezTo>
                  <a:pt x="1283368" y="51334"/>
                  <a:pt x="853440" y="102669"/>
                  <a:pt x="567891" y="298383"/>
                </a:cubicBezTo>
                <a:cubicBezTo>
                  <a:pt x="282341" y="494097"/>
                  <a:pt x="80210" y="1070009"/>
                  <a:pt x="0" y="117428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/>
          <p:cNvSpPr/>
          <p:nvPr/>
        </p:nvSpPr>
        <p:spPr>
          <a:xfrm>
            <a:off x="3854309" y="5367684"/>
            <a:ext cx="1520481" cy="298559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39" y="5168606"/>
            <a:ext cx="2137520" cy="52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TextBox 32"/>
          <p:cNvSpPr txBox="1"/>
          <p:nvPr/>
        </p:nvSpPr>
        <p:spPr>
          <a:xfrm>
            <a:off x="6431374" y="1417649"/>
            <a:ext cx="189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global memory</a:t>
            </a:r>
            <a:endParaRPr lang="en-US" sz="2200" dirty="0"/>
          </a:p>
        </p:txBody>
      </p:sp>
      <p:sp>
        <p:nvSpPr>
          <p:cNvPr id="35" name="TextBox 34"/>
          <p:cNvSpPr txBox="1"/>
          <p:nvPr/>
        </p:nvSpPr>
        <p:spPr>
          <a:xfrm>
            <a:off x="1284216" y="1396912"/>
            <a:ext cx="1751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thread’s view</a:t>
            </a:r>
            <a:endParaRPr lang="en-US" sz="22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225" y="5166749"/>
            <a:ext cx="2757737" cy="603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2" name="Group 31"/>
          <p:cNvGrpSpPr/>
          <p:nvPr/>
        </p:nvGrpSpPr>
        <p:grpSpPr>
          <a:xfrm>
            <a:off x="3635307" y="2101932"/>
            <a:ext cx="1119908" cy="5159888"/>
            <a:chOff x="3635307" y="2101932"/>
            <a:chExt cx="1119908" cy="5159888"/>
          </a:xfrm>
        </p:grpSpPr>
        <p:cxnSp>
          <p:nvCxnSpPr>
            <p:cNvPr id="42" name="Straight Connector 41"/>
            <p:cNvCxnSpPr/>
            <p:nvPr/>
          </p:nvCxnSpPr>
          <p:spPr>
            <a:xfrm flipH="1">
              <a:off x="3990109" y="2101932"/>
              <a:ext cx="765106" cy="130628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3990109" y="3408218"/>
              <a:ext cx="624442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3875562" y="3408218"/>
              <a:ext cx="753855" cy="128708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3875562" y="4695299"/>
              <a:ext cx="624442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3754748" y="4691479"/>
              <a:ext cx="753855" cy="128708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3754748" y="5978560"/>
              <a:ext cx="624442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3635307" y="5974739"/>
              <a:ext cx="753855" cy="128708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/>
          <p:cNvSpPr txBox="1"/>
          <p:nvPr/>
        </p:nvSpPr>
        <p:spPr>
          <a:xfrm>
            <a:off x="847452" y="5788600"/>
            <a:ext cx="2383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2"/>
                </a:solidFill>
              </a:rPr>
              <a:t>contains(3):</a:t>
            </a:r>
            <a:r>
              <a:rPr lang="en-US" sz="2400" b="1" dirty="0" smtClean="0">
                <a:solidFill>
                  <a:schemeClr val="accent2"/>
                </a:solidFill>
              </a:rPr>
              <a:t> false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187421" y="5788600"/>
            <a:ext cx="23818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1"/>
                </a:solidFill>
              </a:rPr>
              <a:t>contains(3): </a:t>
            </a:r>
            <a:r>
              <a:rPr lang="en-US" sz="2400" b="1" dirty="0" smtClean="0">
                <a:solidFill>
                  <a:schemeClr val="accent1"/>
                </a:solidFill>
              </a:rPr>
              <a:t>false</a:t>
            </a:r>
            <a:br>
              <a:rPr lang="en-US" sz="2400" b="1" dirty="0" smtClean="0">
                <a:solidFill>
                  <a:schemeClr val="accent1"/>
                </a:solidFill>
              </a:rPr>
            </a:br>
            <a:r>
              <a:rPr lang="en-US" sz="2400" b="1" dirty="0" smtClean="0">
                <a:solidFill>
                  <a:schemeClr val="accent1"/>
                </a:solidFill>
              </a:rPr>
              <a:t>at some point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91306" y="1459856"/>
            <a:ext cx="242087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7030A0"/>
                </a:solidFill>
              </a:rPr>
              <a:t>c</a:t>
            </a:r>
            <a:r>
              <a:rPr lang="en-US" sz="2600" b="1" dirty="0" smtClean="0">
                <a:solidFill>
                  <a:srgbClr val="7030A0"/>
                </a:solidFill>
              </a:rPr>
              <a:t>ontains(3)? no</a:t>
            </a:r>
            <a:endParaRPr lang="en-US" sz="26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2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Traversals: Inconsistent View</a:t>
            </a:r>
          </a:p>
        </p:txBody>
      </p:sp>
      <p:sp>
        <p:nvSpPr>
          <p:cNvPr id="25" name="Oval 24"/>
          <p:cNvSpPr/>
          <p:nvPr/>
        </p:nvSpPr>
        <p:spPr>
          <a:xfrm>
            <a:off x="3016713" y="2382148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2219112" y="2522813"/>
            <a:ext cx="818201" cy="5169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099048" y="2997671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24" name="Straight Arrow Connector 23"/>
          <p:cNvCxnSpPr>
            <a:endCxn id="26" idx="0"/>
          </p:cNvCxnSpPr>
          <p:nvPr/>
        </p:nvCxnSpPr>
        <p:spPr>
          <a:xfrm flipH="1">
            <a:off x="1314087" y="3081004"/>
            <a:ext cx="818201" cy="5169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73422" y="3597995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840062" y="2002425"/>
            <a:ext cx="267997" cy="38742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31" idx="0"/>
          </p:cNvCxnSpPr>
          <p:nvPr/>
        </p:nvCxnSpPr>
        <p:spPr>
          <a:xfrm>
            <a:off x="1430588" y="3670135"/>
            <a:ext cx="666499" cy="45132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13796" y="4121463"/>
            <a:ext cx="566581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null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3854309" y="5367684"/>
            <a:ext cx="1520481" cy="298559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39" y="5168606"/>
            <a:ext cx="2137520" cy="52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TextBox 32"/>
          <p:cNvSpPr txBox="1"/>
          <p:nvPr/>
        </p:nvSpPr>
        <p:spPr>
          <a:xfrm>
            <a:off x="6431374" y="1417649"/>
            <a:ext cx="189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global memory</a:t>
            </a:r>
            <a:endParaRPr lang="en-US" sz="2200" dirty="0"/>
          </a:p>
        </p:txBody>
      </p:sp>
      <p:sp>
        <p:nvSpPr>
          <p:cNvPr id="35" name="TextBox 34"/>
          <p:cNvSpPr txBox="1"/>
          <p:nvPr/>
        </p:nvSpPr>
        <p:spPr>
          <a:xfrm>
            <a:off x="1284216" y="1396912"/>
            <a:ext cx="1751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thread’s view</a:t>
            </a:r>
            <a:endParaRPr lang="en-US" sz="22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225" y="5166749"/>
            <a:ext cx="2757737" cy="603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27" name="Group 1026"/>
          <p:cNvGrpSpPr/>
          <p:nvPr/>
        </p:nvGrpSpPr>
        <p:grpSpPr>
          <a:xfrm>
            <a:off x="3635307" y="2101932"/>
            <a:ext cx="1119908" cy="5159888"/>
            <a:chOff x="3635307" y="2101932"/>
            <a:chExt cx="1119908" cy="5159888"/>
          </a:xfrm>
        </p:grpSpPr>
        <p:cxnSp>
          <p:nvCxnSpPr>
            <p:cNvPr id="19" name="Straight Connector 18"/>
            <p:cNvCxnSpPr/>
            <p:nvPr/>
          </p:nvCxnSpPr>
          <p:spPr>
            <a:xfrm flipH="1">
              <a:off x="3990109" y="2101932"/>
              <a:ext cx="765106" cy="130628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990109" y="3408218"/>
              <a:ext cx="624442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H="1">
              <a:off x="3875562" y="3408218"/>
              <a:ext cx="753855" cy="128708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3875562" y="4695299"/>
              <a:ext cx="624442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H="1">
              <a:off x="3754748" y="4691479"/>
              <a:ext cx="753855" cy="128708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3754748" y="5978560"/>
              <a:ext cx="624442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H="1">
              <a:off x="3635307" y="5974739"/>
              <a:ext cx="753855" cy="128708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Straight Connector 70"/>
          <p:cNvCxnSpPr/>
          <p:nvPr/>
        </p:nvCxnSpPr>
        <p:spPr>
          <a:xfrm>
            <a:off x="3647182" y="7261820"/>
            <a:ext cx="6244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loud 75"/>
          <p:cNvSpPr/>
          <p:nvPr/>
        </p:nvSpPr>
        <p:spPr>
          <a:xfrm>
            <a:off x="5612422" y="2061208"/>
            <a:ext cx="3179938" cy="2322732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6797372" y="2314603"/>
            <a:ext cx="90477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800" dirty="0" smtClean="0">
                <a:solidFill>
                  <a:srgbClr val="C00000"/>
                </a:solidFill>
              </a:rPr>
              <a:t>?</a:t>
            </a:r>
            <a:endParaRPr lang="en-US" sz="11800" dirty="0">
              <a:solidFill>
                <a:srgbClr val="C00000"/>
              </a:solidFill>
            </a:endParaRPr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6989100" y="1913098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7452" y="5788600"/>
            <a:ext cx="2383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2"/>
                </a:solidFill>
              </a:rPr>
              <a:t>contains(3):</a:t>
            </a:r>
            <a:r>
              <a:rPr lang="en-US" sz="2400" b="1" dirty="0" smtClean="0">
                <a:solidFill>
                  <a:schemeClr val="accent2"/>
                </a:solidFill>
              </a:rPr>
              <a:t> false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87421" y="5788600"/>
            <a:ext cx="23818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1"/>
                </a:solidFill>
              </a:rPr>
              <a:t>contains(3): </a:t>
            </a:r>
            <a:r>
              <a:rPr lang="en-US" sz="2400" b="1" dirty="0" smtClean="0">
                <a:solidFill>
                  <a:schemeClr val="accent1"/>
                </a:solidFill>
              </a:rPr>
              <a:t>false</a:t>
            </a:r>
            <a:br>
              <a:rPr lang="en-US" sz="2400" b="1" dirty="0" smtClean="0">
                <a:solidFill>
                  <a:schemeClr val="accent1"/>
                </a:solidFill>
              </a:rPr>
            </a:br>
            <a:r>
              <a:rPr lang="en-US" sz="2400" b="1" dirty="0" smtClean="0">
                <a:solidFill>
                  <a:schemeClr val="accent1"/>
                </a:solidFill>
              </a:rPr>
              <a:t>at some point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91306" y="1459856"/>
            <a:ext cx="242087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7030A0"/>
                </a:solidFill>
              </a:rPr>
              <a:t>c</a:t>
            </a:r>
            <a:r>
              <a:rPr lang="en-US" sz="2600" b="1" dirty="0" smtClean="0">
                <a:solidFill>
                  <a:srgbClr val="7030A0"/>
                </a:solidFill>
              </a:rPr>
              <a:t>ontains(3)? no</a:t>
            </a:r>
            <a:endParaRPr lang="en-US" sz="26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8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Traversal for Insert: Inconsistency</a:t>
            </a:r>
          </a:p>
        </p:txBody>
      </p:sp>
      <p:sp>
        <p:nvSpPr>
          <p:cNvPr id="25" name="Oval 24"/>
          <p:cNvSpPr/>
          <p:nvPr/>
        </p:nvSpPr>
        <p:spPr>
          <a:xfrm>
            <a:off x="3016713" y="2382148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2219112" y="2522813"/>
            <a:ext cx="818201" cy="5169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099048" y="2997671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24" name="Straight Arrow Connector 23"/>
          <p:cNvCxnSpPr>
            <a:endCxn id="26" idx="0"/>
          </p:cNvCxnSpPr>
          <p:nvPr/>
        </p:nvCxnSpPr>
        <p:spPr>
          <a:xfrm flipH="1">
            <a:off x="1314087" y="3081004"/>
            <a:ext cx="818201" cy="5169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73422" y="3597995"/>
            <a:ext cx="281329" cy="28132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840062" y="2002425"/>
            <a:ext cx="267997" cy="38742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31" idx="0"/>
          </p:cNvCxnSpPr>
          <p:nvPr/>
        </p:nvCxnSpPr>
        <p:spPr>
          <a:xfrm>
            <a:off x="1430588" y="3670135"/>
            <a:ext cx="666499" cy="45132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13796" y="4121463"/>
            <a:ext cx="566581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null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963905" y="1459856"/>
            <a:ext cx="20689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>
                <a:solidFill>
                  <a:srgbClr val="7030A0"/>
                </a:solidFill>
              </a:rPr>
              <a:t>insert(3)</a:t>
            </a:r>
            <a:endParaRPr lang="en-US" sz="2600" b="1" dirty="0">
              <a:solidFill>
                <a:srgbClr val="7030A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31374" y="1417649"/>
            <a:ext cx="189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global memory</a:t>
            </a:r>
            <a:endParaRPr lang="en-US" sz="2200" dirty="0"/>
          </a:p>
        </p:txBody>
      </p:sp>
      <p:sp>
        <p:nvSpPr>
          <p:cNvPr id="35" name="TextBox 34"/>
          <p:cNvSpPr txBox="1"/>
          <p:nvPr/>
        </p:nvSpPr>
        <p:spPr>
          <a:xfrm>
            <a:off x="1284216" y="1396912"/>
            <a:ext cx="1751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thread’s view</a:t>
            </a:r>
            <a:endParaRPr lang="en-US" sz="2200" dirty="0"/>
          </a:p>
        </p:txBody>
      </p:sp>
      <p:grpSp>
        <p:nvGrpSpPr>
          <p:cNvPr id="1027" name="Group 1026"/>
          <p:cNvGrpSpPr/>
          <p:nvPr/>
        </p:nvGrpSpPr>
        <p:grpSpPr>
          <a:xfrm>
            <a:off x="3635307" y="2101932"/>
            <a:ext cx="1119908" cy="5159888"/>
            <a:chOff x="3635307" y="2101932"/>
            <a:chExt cx="1119908" cy="5159888"/>
          </a:xfrm>
        </p:grpSpPr>
        <p:cxnSp>
          <p:nvCxnSpPr>
            <p:cNvPr id="19" name="Straight Connector 18"/>
            <p:cNvCxnSpPr/>
            <p:nvPr/>
          </p:nvCxnSpPr>
          <p:spPr>
            <a:xfrm flipH="1">
              <a:off x="3990109" y="2101932"/>
              <a:ext cx="765106" cy="130628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990109" y="3408218"/>
              <a:ext cx="624442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H="1">
              <a:off x="3875562" y="3408218"/>
              <a:ext cx="753855" cy="128708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3875562" y="4695299"/>
              <a:ext cx="624442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H="1">
              <a:off x="3754748" y="4691479"/>
              <a:ext cx="753855" cy="128708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3754748" y="5978560"/>
              <a:ext cx="624442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H="1">
              <a:off x="3635307" y="5974739"/>
              <a:ext cx="753855" cy="128708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Straight Connector 70"/>
          <p:cNvCxnSpPr/>
          <p:nvPr/>
        </p:nvCxnSpPr>
        <p:spPr>
          <a:xfrm>
            <a:off x="3647182" y="7261820"/>
            <a:ext cx="6244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loud 72"/>
          <p:cNvSpPr/>
          <p:nvPr/>
        </p:nvSpPr>
        <p:spPr>
          <a:xfrm>
            <a:off x="5612422" y="2061208"/>
            <a:ext cx="3179938" cy="2322732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6797372" y="2314603"/>
            <a:ext cx="90477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800" dirty="0" smtClean="0">
                <a:solidFill>
                  <a:srgbClr val="C00000"/>
                </a:solidFill>
              </a:rPr>
              <a:t>?</a:t>
            </a:r>
            <a:endParaRPr lang="en-US" sz="11800" dirty="0">
              <a:solidFill>
                <a:srgbClr val="C00000"/>
              </a:solidFill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8044730" y="3718362"/>
            <a:ext cx="666499" cy="45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605765" y="4155817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grpSp>
        <p:nvGrpSpPr>
          <p:cNvPr id="36" name="Group 24"/>
          <p:cNvGrpSpPr>
            <a:grpSpLocks/>
          </p:cNvGrpSpPr>
          <p:nvPr/>
        </p:nvGrpSpPr>
        <p:grpSpPr bwMode="auto">
          <a:xfrm rot="-277548">
            <a:off x="7723534" y="4095885"/>
            <a:ext cx="733214" cy="485100"/>
            <a:chOff x="3168" y="1824"/>
            <a:chExt cx="912" cy="816"/>
          </a:xfrm>
        </p:grpSpPr>
        <p:sp>
          <p:nvSpPr>
            <p:cNvPr id="37" name="Freeform 25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Freeform 26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Freeform 27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3 h 336"/>
                <a:gd name="T2" fmla="*/ 96 w 144"/>
                <a:gd name="T3" fmla="*/ 0 h 336"/>
                <a:gd name="T4" fmla="*/ 144 w 144"/>
                <a:gd name="T5" fmla="*/ 3 h 336"/>
                <a:gd name="T6" fmla="*/ 144 w 144"/>
                <a:gd name="T7" fmla="*/ 3 h 336"/>
                <a:gd name="T8" fmla="*/ 96 w 144"/>
                <a:gd name="T9" fmla="*/ 3 h 336"/>
                <a:gd name="T10" fmla="*/ 96 w 144"/>
                <a:gd name="T11" fmla="*/ 3 h 336"/>
                <a:gd name="T12" fmla="*/ 0 w 144"/>
                <a:gd name="T13" fmla="*/ 3 h 336"/>
                <a:gd name="T14" fmla="*/ 0 w 144"/>
                <a:gd name="T15" fmla="*/ 3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Freeform 28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Freeform 29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Freeform 30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Freeform 31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2 h 432"/>
                <a:gd name="T4" fmla="*/ 1 w 336"/>
                <a:gd name="T5" fmla="*/ 2 h 432"/>
                <a:gd name="T6" fmla="*/ 1 w 336"/>
                <a:gd name="T7" fmla="*/ 2 h 432"/>
                <a:gd name="T8" fmla="*/ 0 w 336"/>
                <a:gd name="T9" fmla="*/ 2 h 432"/>
                <a:gd name="T10" fmla="*/ 0 w 336"/>
                <a:gd name="T11" fmla="*/ 2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Freeform 32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33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49" name="Straight Arrow Connector 48"/>
          <p:cNvCxnSpPr/>
          <p:nvPr/>
        </p:nvCxnSpPr>
        <p:spPr>
          <a:xfrm>
            <a:off x="6989100" y="1913098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847541" y="355509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sp>
        <p:nvSpPr>
          <p:cNvPr id="51" name="Right Arrow 50"/>
          <p:cNvSpPr/>
          <p:nvPr/>
        </p:nvSpPr>
        <p:spPr>
          <a:xfrm>
            <a:off x="3854309" y="5367684"/>
            <a:ext cx="1520481" cy="298559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701" y="5153084"/>
            <a:ext cx="2308278" cy="609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58" y="5095014"/>
            <a:ext cx="1615997" cy="52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06587" y="3448437"/>
                <a:ext cx="45420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587" y="3448437"/>
                <a:ext cx="454208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515609" y="3344690"/>
                <a:ext cx="45420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609" y="3344690"/>
                <a:ext cx="454208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96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50" grpId="0" animBg="1"/>
      <p:bldP spid="51" grpId="0" animBg="1"/>
      <p:bldP spid="3" grpId="0"/>
      <p:bldP spid="5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88179" cy="1325563"/>
          </a:xfrm>
        </p:spPr>
        <p:txBody>
          <a:bodyPr/>
          <a:lstStyle/>
          <a:p>
            <a:r>
              <a:rPr lang="en-US" dirty="0" smtClean="0"/>
              <a:t>Traversal Correctness Problem</a:t>
            </a:r>
            <a:endParaRPr 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328" y="5218653"/>
            <a:ext cx="2308278" cy="609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628650" y="3447535"/>
            <a:ext cx="4956604" cy="27294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The heart of the </a:t>
            </a:r>
            <a:r>
              <a:rPr lang="en-US" dirty="0" err="1" smtClean="0"/>
              <a:t>linearizability</a:t>
            </a:r>
            <a:r>
              <a:rPr lang="en-US" dirty="0" smtClean="0"/>
              <a:t> proof: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 smtClean="0"/>
          </a:p>
          <a:p>
            <a:r>
              <a:rPr lang="en-US" b="1" dirty="0" smtClean="0"/>
              <a:t>Contains:</a:t>
            </a:r>
            <a:endParaRPr lang="en-US" dirty="0" smtClean="0"/>
          </a:p>
          <a:p>
            <a:r>
              <a:rPr lang="en-US" b="1" dirty="0" smtClean="0"/>
              <a:t>Insert: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Full details in the paper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2766" y="4417801"/>
            <a:ext cx="1914950" cy="50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492" y="4866575"/>
            <a:ext cx="1914950" cy="50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752705" y="4943467"/>
            <a:ext cx="201430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/>
              <a:t>+unmarked</a:t>
            </a:r>
            <a:endParaRPr lang="en-US" sz="2600" dirty="0"/>
          </a:p>
        </p:txBody>
      </p:sp>
      <p:sp>
        <p:nvSpPr>
          <p:cNvPr id="13" name="Cloud 12"/>
          <p:cNvSpPr/>
          <p:nvPr/>
        </p:nvSpPr>
        <p:spPr>
          <a:xfrm>
            <a:off x="5759401" y="2947393"/>
            <a:ext cx="3179938" cy="2322732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944351" y="3200788"/>
            <a:ext cx="90477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800" dirty="0" smtClean="0">
                <a:solidFill>
                  <a:srgbClr val="C00000"/>
                </a:solidFill>
              </a:rPr>
              <a:t>?</a:t>
            </a:r>
            <a:endParaRPr lang="en-US" sz="11800" dirty="0">
              <a:solidFill>
                <a:srgbClr val="C00000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628650" y="1714412"/>
            <a:ext cx="6587696" cy="1387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mtClean="0"/>
              <a:t>Prove</a:t>
            </a:r>
            <a:r>
              <a:rPr lang="en-US" smtClean="0">
                <a:solidFill>
                  <a:srgbClr val="7030A0"/>
                </a:solidFill>
              </a:rPr>
              <a:t> </a:t>
            </a:r>
            <a:r>
              <a:rPr lang="en-US" smtClean="0"/>
              <a:t>the </a:t>
            </a:r>
            <a:r>
              <a:rPr lang="en-US" b="1" smtClean="0">
                <a:solidFill>
                  <a:srgbClr val="7030A0"/>
                </a:solidFill>
              </a:rPr>
              <a:t>existence</a:t>
            </a:r>
            <a:r>
              <a:rPr lang="en-US" smtClean="0"/>
              <a:t> of a </a:t>
            </a:r>
            <a:r>
              <a:rPr lang="en-US" b="1" smtClean="0">
                <a:solidFill>
                  <a:srgbClr val="7030A0"/>
                </a:solidFill>
              </a:rPr>
              <a:t>search path</a:t>
            </a:r>
            <a:r>
              <a:rPr lang="en-US" smtClean="0"/>
              <a:t> </a:t>
            </a:r>
            <a:br>
              <a:rPr lang="en-US" smtClean="0"/>
            </a:br>
            <a:r>
              <a:rPr lang="en-US" smtClean="0"/>
              <a:t>in </a:t>
            </a:r>
            <a:r>
              <a:rPr lang="en-US" b="1" smtClean="0">
                <a:solidFill>
                  <a:srgbClr val="7030A0"/>
                </a:solidFill>
              </a:rPr>
              <a:t>real memory</a:t>
            </a:r>
            <a:r>
              <a:rPr lang="en-US" smtClean="0"/>
              <a:t> </a:t>
            </a:r>
            <a:br>
              <a:rPr lang="en-US" smtClean="0"/>
            </a:br>
            <a:r>
              <a:rPr lang="en-US" smtClean="0"/>
              <a:t>at some point during the traversal</a:t>
            </a:r>
            <a:endParaRPr lang="en-US" b="1" smtClean="0">
              <a:solidFill>
                <a:srgbClr val="7030A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50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88179" cy="1325563"/>
          </a:xfrm>
        </p:spPr>
        <p:txBody>
          <a:bodyPr/>
          <a:lstStyle/>
          <a:p>
            <a:r>
              <a:rPr lang="en-US" dirty="0" smtClean="0"/>
              <a:t>Traversal Correctness Problem</a:t>
            </a:r>
            <a:endParaRPr 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328" y="5218653"/>
            <a:ext cx="2308278" cy="609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1714412"/>
            <a:ext cx="6587696" cy="13871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Prove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7030A0"/>
                </a:solidFill>
              </a:rPr>
              <a:t>existence</a:t>
            </a:r>
            <a:r>
              <a:rPr lang="en-US" dirty="0"/>
              <a:t> of a </a:t>
            </a:r>
            <a:r>
              <a:rPr lang="en-US" b="1" dirty="0">
                <a:solidFill>
                  <a:srgbClr val="7030A0"/>
                </a:solidFill>
              </a:rPr>
              <a:t>search path</a:t>
            </a:r>
            <a:r>
              <a:rPr lang="en-US"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 </a:t>
            </a:r>
            <a:r>
              <a:rPr lang="en-US" b="1" dirty="0">
                <a:solidFill>
                  <a:srgbClr val="7030A0"/>
                </a:solidFill>
              </a:rPr>
              <a:t>real memory</a:t>
            </a:r>
            <a:r>
              <a:rPr lang="en-US"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at </a:t>
            </a:r>
            <a:r>
              <a:rPr lang="en-US" dirty="0"/>
              <a:t>some point during the traversal</a:t>
            </a:r>
            <a:endParaRPr lang="en-US" b="1" dirty="0">
              <a:solidFill>
                <a:srgbClr val="7030A0"/>
              </a:solidFill>
            </a:endParaRPr>
          </a:p>
          <a:p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28650" y="3447535"/>
            <a:ext cx="4956604" cy="27294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The heart of the </a:t>
            </a:r>
            <a:r>
              <a:rPr lang="en-US" dirty="0" err="1" smtClean="0"/>
              <a:t>linearizability</a:t>
            </a:r>
            <a:r>
              <a:rPr lang="en-US" dirty="0" smtClean="0"/>
              <a:t> proof: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 smtClean="0"/>
          </a:p>
          <a:p>
            <a:r>
              <a:rPr lang="en-US" b="1" dirty="0" smtClean="0"/>
              <a:t>Contains:</a:t>
            </a:r>
            <a:endParaRPr lang="en-US" dirty="0" smtClean="0"/>
          </a:p>
          <a:p>
            <a:r>
              <a:rPr lang="en-US" b="1" dirty="0" smtClean="0"/>
              <a:t>Insert: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Full details in the paper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2766" y="4417801"/>
            <a:ext cx="1914950" cy="50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492" y="4866575"/>
            <a:ext cx="1914950" cy="50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752705" y="4943467"/>
            <a:ext cx="201430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/>
              <a:t>+unmarked</a:t>
            </a:r>
            <a:endParaRPr lang="en-US" sz="2600" dirty="0"/>
          </a:p>
        </p:txBody>
      </p:sp>
      <p:sp>
        <p:nvSpPr>
          <p:cNvPr id="13" name="Cloud 12"/>
          <p:cNvSpPr/>
          <p:nvPr/>
        </p:nvSpPr>
        <p:spPr>
          <a:xfrm>
            <a:off x="5759401" y="2947393"/>
            <a:ext cx="3179938" cy="2322732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944351" y="3200788"/>
            <a:ext cx="90477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800" dirty="0" smtClean="0">
                <a:solidFill>
                  <a:srgbClr val="C00000"/>
                </a:solidFill>
              </a:rPr>
              <a:t>?</a:t>
            </a:r>
            <a:endParaRPr lang="en-US" sz="11800" dirty="0">
              <a:solidFill>
                <a:srgbClr val="C0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1465" y="2947393"/>
            <a:ext cx="8831323" cy="3328235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628650" y="3346942"/>
            <a:ext cx="7600096" cy="2707869"/>
            <a:chOff x="704325" y="2046841"/>
            <a:chExt cx="8368670" cy="991730"/>
          </a:xfrm>
        </p:grpSpPr>
        <p:sp>
          <p:nvSpPr>
            <p:cNvPr id="17" name="Rectangle 16"/>
            <p:cNvSpPr/>
            <p:nvPr/>
          </p:nvSpPr>
          <p:spPr bwMode="auto">
            <a:xfrm>
              <a:off x="704325" y="2046841"/>
              <a:ext cx="8368670" cy="991730"/>
            </a:xfrm>
            <a:prstGeom prst="rect">
              <a:avLst/>
            </a:prstGeom>
            <a:solidFill>
              <a:srgbClr val="CCECFF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spcBef>
                  <a:spcPct val="20000"/>
                </a:spcBef>
              </a:pPr>
              <a:endParaRPr lang="en-US" sz="4800" dirty="0" smtClean="0">
                <a:ea typeface="Batang" panose="02030600000101010101" pitchFamily="18" charset="-127"/>
              </a:endParaRPr>
            </a:p>
          </p:txBody>
        </p:sp>
        <p:sp>
          <p:nvSpPr>
            <p:cNvPr id="18" name="Rectangle 2"/>
            <p:cNvSpPr txBox="1">
              <a:spLocks noChangeArrowheads="1"/>
            </p:cNvSpPr>
            <p:nvPr/>
          </p:nvSpPr>
          <p:spPr bwMode="auto">
            <a:xfrm>
              <a:off x="704325" y="2046841"/>
              <a:ext cx="8368670" cy="921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 kern="1200">
                  <a:solidFill>
                    <a:srgbClr val="292929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 kern="1200">
                  <a:solidFill>
                    <a:srgbClr val="292929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kern="1200">
                  <a:solidFill>
                    <a:srgbClr val="292929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292929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rgbClr val="292929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514600" indent="-228600" algn="r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r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r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r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en-US" sz="3600" dirty="0" smtClean="0">
                  <a:solidFill>
                    <a:schemeClr val="tx1"/>
                  </a:solidFill>
                </a:rPr>
                <a:t>How to prove traversal correctness?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991776" y="4151875"/>
            <a:ext cx="5191130" cy="1580602"/>
            <a:chOff x="2436621" y="4078942"/>
            <a:chExt cx="4456655" cy="1356968"/>
          </a:xfrm>
        </p:grpSpPr>
        <p:grpSp>
          <p:nvGrpSpPr>
            <p:cNvPr id="19" name="Group 18"/>
            <p:cNvGrpSpPr/>
            <p:nvPr/>
          </p:nvGrpSpPr>
          <p:grpSpPr>
            <a:xfrm>
              <a:off x="4614856" y="4078942"/>
              <a:ext cx="2278420" cy="1356968"/>
              <a:chOff x="4821536" y="3072862"/>
              <a:chExt cx="4041464" cy="2406991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 flipH="1">
                <a:off x="6715800" y="3589854"/>
                <a:ext cx="818201" cy="51699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5927276" y="4737176"/>
                <a:ext cx="666499" cy="4513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/>
              <p:cNvSpPr/>
              <p:nvPr/>
            </p:nvSpPr>
            <p:spPr>
              <a:xfrm>
                <a:off x="6488311" y="5174631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7513401" y="3449189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6595736" y="4064712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25" name="Straight Arrow Connector 24"/>
              <p:cNvCxnSpPr>
                <a:endCxn id="26" idx="0"/>
              </p:cNvCxnSpPr>
              <p:nvPr/>
            </p:nvCxnSpPr>
            <p:spPr>
              <a:xfrm flipH="1">
                <a:off x="5810775" y="4148045"/>
                <a:ext cx="818201" cy="51699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Oval 25"/>
              <p:cNvSpPr/>
              <p:nvPr/>
            </p:nvSpPr>
            <p:spPr>
              <a:xfrm>
                <a:off x="5670110" y="4665036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>
                <a:off x="7397456" y="3072862"/>
                <a:ext cx="267997" cy="38742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7"/>
              <p:cNvSpPr/>
              <p:nvPr/>
            </p:nvSpPr>
            <p:spPr>
              <a:xfrm>
                <a:off x="4821536" y="5198524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29" name="Straight Arrow Connector 28"/>
              <p:cNvCxnSpPr>
                <a:endCxn id="28" idx="0"/>
              </p:cNvCxnSpPr>
              <p:nvPr/>
            </p:nvCxnSpPr>
            <p:spPr>
              <a:xfrm flipH="1">
                <a:off x="4962201" y="4723303"/>
                <a:ext cx="731028" cy="47522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/>
              <p:cNvSpPr/>
              <p:nvPr/>
            </p:nvSpPr>
            <p:spPr>
              <a:xfrm>
                <a:off x="8581671" y="4116091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31" name="Straight Arrow Connector 30"/>
              <p:cNvCxnSpPr>
                <a:endCxn id="30" idx="0"/>
              </p:cNvCxnSpPr>
              <p:nvPr/>
            </p:nvCxnSpPr>
            <p:spPr>
              <a:xfrm>
                <a:off x="7794730" y="3558911"/>
                <a:ext cx="927606" cy="55718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2436621" y="4110537"/>
              <a:ext cx="1034317" cy="934008"/>
              <a:chOff x="1313956" y="2904216"/>
              <a:chExt cx="1834673" cy="1656745"/>
            </a:xfrm>
          </p:grpSpPr>
          <p:grpSp>
            <p:nvGrpSpPr>
              <p:cNvPr id="33" name="Group 32"/>
              <p:cNvGrpSpPr/>
              <p:nvPr/>
            </p:nvGrpSpPr>
            <p:grpSpPr>
              <a:xfrm>
                <a:off x="1313956" y="3268105"/>
                <a:ext cx="1834673" cy="1292856"/>
                <a:chOff x="1626359" y="3621107"/>
                <a:chExt cx="2124620" cy="1497176"/>
              </a:xfrm>
            </p:grpSpPr>
            <p:sp>
              <p:nvSpPr>
                <p:cNvPr id="35" name="Oval 34"/>
                <p:cNvSpPr/>
                <p:nvPr/>
              </p:nvSpPr>
              <p:spPr>
                <a:xfrm>
                  <a:off x="3469650" y="3621107"/>
                  <a:ext cx="281329" cy="28132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300" dirty="0"/>
                </a:p>
              </p:txBody>
            </p:sp>
            <p:sp>
              <p:nvSpPr>
                <p:cNvPr id="36" name="Oval 35"/>
                <p:cNvSpPr/>
                <p:nvPr/>
              </p:nvSpPr>
              <p:spPr>
                <a:xfrm>
                  <a:off x="2551985" y="4236630"/>
                  <a:ext cx="281329" cy="28132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300" dirty="0"/>
                </a:p>
              </p:txBody>
            </p:sp>
            <p:cxnSp>
              <p:nvCxnSpPr>
                <p:cNvPr id="37" name="Straight Arrow Connector 36"/>
                <p:cNvCxnSpPr>
                  <a:endCxn id="38" idx="0"/>
                </p:cNvCxnSpPr>
                <p:nvPr/>
              </p:nvCxnSpPr>
              <p:spPr>
                <a:xfrm flipH="1">
                  <a:off x="1767024" y="4319963"/>
                  <a:ext cx="818201" cy="516991"/>
                </a:xfrm>
                <a:prstGeom prst="straightConnector1">
                  <a:avLst/>
                </a:prstGeom>
                <a:ln>
                  <a:solidFill>
                    <a:schemeClr val="accent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Oval 37"/>
                <p:cNvSpPr/>
                <p:nvPr/>
              </p:nvSpPr>
              <p:spPr>
                <a:xfrm>
                  <a:off x="1626359" y="4836954"/>
                  <a:ext cx="281329" cy="28132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300" dirty="0"/>
                </a:p>
              </p:txBody>
            </p:sp>
            <p:cxnSp>
              <p:nvCxnSpPr>
                <p:cNvPr id="39" name="Straight Arrow Connector 38"/>
                <p:cNvCxnSpPr/>
                <p:nvPr/>
              </p:nvCxnSpPr>
              <p:spPr>
                <a:xfrm flipH="1">
                  <a:off x="2692649" y="3716713"/>
                  <a:ext cx="818201" cy="516991"/>
                </a:xfrm>
                <a:prstGeom prst="straightConnector1">
                  <a:avLst/>
                </a:prstGeom>
                <a:ln>
                  <a:solidFill>
                    <a:schemeClr val="accent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Arrow Connector 33"/>
              <p:cNvCxnSpPr/>
              <p:nvPr/>
            </p:nvCxnSpPr>
            <p:spPr>
              <a:xfrm>
                <a:off x="2749585" y="2904216"/>
                <a:ext cx="267997" cy="387422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Arrow Connector 39"/>
            <p:cNvCxnSpPr/>
            <p:nvPr/>
          </p:nvCxnSpPr>
          <p:spPr>
            <a:xfrm>
              <a:off x="3954097" y="4693481"/>
              <a:ext cx="905283" cy="0"/>
            </a:xfrm>
            <a:prstGeom prst="straightConnector1">
              <a:avLst/>
            </a:prstGeom>
            <a:ln w="50800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461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601847"/>
            <a:ext cx="8095220" cy="30298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dirty="0" smtClean="0"/>
              <a:t>Apply the technique to prove the </a:t>
            </a:r>
            <a:r>
              <a:rPr lang="en-US" dirty="0" err="1" smtClean="0"/>
              <a:t>linearizability</a:t>
            </a:r>
            <a:r>
              <a:rPr lang="en-US" dirty="0" smtClean="0"/>
              <a:t> of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800" dirty="0"/>
              <a:t>Variant of </a:t>
            </a:r>
            <a:r>
              <a:rPr lang="en-US" altLang="en-US" sz="2800" dirty="0" smtClean="0"/>
              <a:t>Contention-Friendly</a:t>
            </a:r>
            <a:br>
              <a:rPr lang="en-US" altLang="en-US" sz="2800" dirty="0" smtClean="0"/>
            </a:br>
            <a:r>
              <a:rPr lang="en-US" altLang="en-US" sz="2800" dirty="0" smtClean="0">
                <a:solidFill>
                  <a:srgbClr val="7030A0"/>
                </a:solidFill>
              </a:rPr>
              <a:t>self-balancing </a:t>
            </a:r>
            <a:r>
              <a:rPr lang="en-US" altLang="en-US" sz="2800" dirty="0">
                <a:solidFill>
                  <a:srgbClr val="7030A0"/>
                </a:solidFill>
              </a:rPr>
              <a:t>binary </a:t>
            </a:r>
            <a:r>
              <a:rPr lang="en-US" altLang="en-US" sz="2800" dirty="0" smtClean="0">
                <a:solidFill>
                  <a:srgbClr val="7030A0"/>
                </a:solidFill>
              </a:rPr>
              <a:t>tree </a:t>
            </a:r>
            <a:r>
              <a:rPr lang="en-US" altLang="en-US" dirty="0" smtClean="0"/>
              <a:t>[EuroPar’13</a:t>
            </a:r>
            <a:r>
              <a:rPr lang="en-US" altLang="en-US" dirty="0"/>
              <a:t>, PPL’16]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800" dirty="0">
                <a:solidFill>
                  <a:srgbClr val="7030A0"/>
                </a:solidFill>
              </a:rPr>
              <a:t>Lazy list</a:t>
            </a:r>
            <a:r>
              <a:rPr lang="en-US" altLang="en-US" sz="2800" dirty="0"/>
              <a:t> and Optimistic list </a:t>
            </a:r>
            <a:r>
              <a:rPr lang="en-US" altLang="en-US" dirty="0">
                <a:solidFill>
                  <a:prstClr val="black"/>
                </a:solidFill>
              </a:rPr>
              <a:t>[OPODIS’05]</a:t>
            </a:r>
            <a:endParaRPr lang="en-US" alt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800" dirty="0">
                <a:solidFill>
                  <a:srgbClr val="7030A0"/>
                </a:solidFill>
              </a:rPr>
              <a:t>Lock-free list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800" dirty="0">
                <a:solidFill>
                  <a:srgbClr val="7030A0"/>
                </a:solidFill>
              </a:rPr>
              <a:t>Lock-free </a:t>
            </a:r>
            <a:r>
              <a:rPr lang="en-US" altLang="en-US" sz="2800" dirty="0" err="1">
                <a:solidFill>
                  <a:srgbClr val="7030A0"/>
                </a:solidFill>
              </a:rPr>
              <a:t>skiplist</a:t>
            </a:r>
            <a:endParaRPr lang="en-US" altLang="en-US" dirty="0">
              <a:solidFill>
                <a:srgbClr val="7030A0"/>
              </a:solidFill>
            </a:endParaRPr>
          </a:p>
          <a:p>
            <a:pPr lvl="1"/>
            <a:endParaRPr lang="en-US" sz="1800" dirty="0"/>
          </a:p>
        </p:txBody>
      </p:sp>
      <p:grpSp>
        <p:nvGrpSpPr>
          <p:cNvPr id="4" name="Group 3"/>
          <p:cNvGrpSpPr/>
          <p:nvPr/>
        </p:nvGrpSpPr>
        <p:grpSpPr>
          <a:xfrm>
            <a:off x="5031774" y="329103"/>
            <a:ext cx="3600041" cy="1096146"/>
            <a:chOff x="2255627" y="4259094"/>
            <a:chExt cx="4456655" cy="1356968"/>
          </a:xfrm>
        </p:grpSpPr>
        <p:grpSp>
          <p:nvGrpSpPr>
            <p:cNvPr id="5" name="Group 4"/>
            <p:cNvGrpSpPr/>
            <p:nvPr/>
          </p:nvGrpSpPr>
          <p:grpSpPr>
            <a:xfrm>
              <a:off x="4433862" y="4259094"/>
              <a:ext cx="2278420" cy="1356968"/>
              <a:chOff x="4821536" y="3072862"/>
              <a:chExt cx="4041464" cy="2406991"/>
            </a:xfrm>
          </p:grpSpPr>
          <p:cxnSp>
            <p:nvCxnSpPr>
              <p:cNvPr id="15" name="Straight Arrow Connector 14"/>
              <p:cNvCxnSpPr/>
              <p:nvPr/>
            </p:nvCxnSpPr>
            <p:spPr>
              <a:xfrm flipH="1">
                <a:off x="6715800" y="3589854"/>
                <a:ext cx="818201" cy="51699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>
                <a:off x="5927276" y="4737176"/>
                <a:ext cx="666499" cy="4513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Oval 16"/>
              <p:cNvSpPr/>
              <p:nvPr/>
            </p:nvSpPr>
            <p:spPr>
              <a:xfrm>
                <a:off x="6488311" y="5174631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7513401" y="3449189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6595736" y="4064712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20" name="Straight Arrow Connector 19"/>
              <p:cNvCxnSpPr>
                <a:endCxn id="21" idx="0"/>
              </p:cNvCxnSpPr>
              <p:nvPr/>
            </p:nvCxnSpPr>
            <p:spPr>
              <a:xfrm flipH="1">
                <a:off x="5810775" y="4148045"/>
                <a:ext cx="818201" cy="51699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Oval 20"/>
              <p:cNvSpPr/>
              <p:nvPr/>
            </p:nvSpPr>
            <p:spPr>
              <a:xfrm>
                <a:off x="5670110" y="4665036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22" name="Straight Arrow Connector 21"/>
              <p:cNvCxnSpPr/>
              <p:nvPr/>
            </p:nvCxnSpPr>
            <p:spPr>
              <a:xfrm>
                <a:off x="7397456" y="3072862"/>
                <a:ext cx="267997" cy="38742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Oval 22"/>
              <p:cNvSpPr/>
              <p:nvPr/>
            </p:nvSpPr>
            <p:spPr>
              <a:xfrm>
                <a:off x="4821536" y="5198524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24" name="Straight Arrow Connector 23"/>
              <p:cNvCxnSpPr>
                <a:endCxn id="23" idx="0"/>
              </p:cNvCxnSpPr>
              <p:nvPr/>
            </p:nvCxnSpPr>
            <p:spPr>
              <a:xfrm flipH="1">
                <a:off x="4962201" y="4723303"/>
                <a:ext cx="731028" cy="47522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/>
              <p:cNvSpPr/>
              <p:nvPr/>
            </p:nvSpPr>
            <p:spPr>
              <a:xfrm>
                <a:off x="8581671" y="4116091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26" name="Straight Arrow Connector 25"/>
              <p:cNvCxnSpPr>
                <a:endCxn id="25" idx="0"/>
              </p:cNvCxnSpPr>
              <p:nvPr/>
            </p:nvCxnSpPr>
            <p:spPr>
              <a:xfrm>
                <a:off x="7794730" y="3558911"/>
                <a:ext cx="927606" cy="55718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/>
            <p:cNvGrpSpPr/>
            <p:nvPr/>
          </p:nvGrpSpPr>
          <p:grpSpPr>
            <a:xfrm>
              <a:off x="2255627" y="4290689"/>
              <a:ext cx="1034317" cy="934008"/>
              <a:chOff x="1313956" y="2904216"/>
              <a:chExt cx="1834673" cy="1656745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1313956" y="3268105"/>
                <a:ext cx="1834673" cy="1292856"/>
                <a:chOff x="1626359" y="3621107"/>
                <a:chExt cx="2124620" cy="1497176"/>
              </a:xfrm>
            </p:grpSpPr>
            <p:sp>
              <p:nvSpPr>
                <p:cNvPr id="10" name="Oval 9"/>
                <p:cNvSpPr/>
                <p:nvPr/>
              </p:nvSpPr>
              <p:spPr>
                <a:xfrm>
                  <a:off x="3469650" y="3621107"/>
                  <a:ext cx="281329" cy="28132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300" dirty="0"/>
                </a:p>
              </p:txBody>
            </p:sp>
            <p:sp>
              <p:nvSpPr>
                <p:cNvPr id="11" name="Oval 10"/>
                <p:cNvSpPr/>
                <p:nvPr/>
              </p:nvSpPr>
              <p:spPr>
                <a:xfrm>
                  <a:off x="2551985" y="4236630"/>
                  <a:ext cx="281329" cy="28132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300" dirty="0"/>
                </a:p>
              </p:txBody>
            </p:sp>
            <p:cxnSp>
              <p:nvCxnSpPr>
                <p:cNvPr id="12" name="Straight Arrow Connector 11"/>
                <p:cNvCxnSpPr>
                  <a:endCxn id="13" idx="0"/>
                </p:cNvCxnSpPr>
                <p:nvPr/>
              </p:nvCxnSpPr>
              <p:spPr>
                <a:xfrm flipH="1">
                  <a:off x="1767024" y="4319963"/>
                  <a:ext cx="818201" cy="516991"/>
                </a:xfrm>
                <a:prstGeom prst="straightConnector1">
                  <a:avLst/>
                </a:prstGeom>
                <a:ln>
                  <a:solidFill>
                    <a:schemeClr val="accent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Oval 12"/>
                <p:cNvSpPr/>
                <p:nvPr/>
              </p:nvSpPr>
              <p:spPr>
                <a:xfrm>
                  <a:off x="1626359" y="4836954"/>
                  <a:ext cx="281329" cy="28132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300" dirty="0"/>
                </a:p>
              </p:txBody>
            </p:sp>
            <p:cxnSp>
              <p:nvCxnSpPr>
                <p:cNvPr id="14" name="Straight Arrow Connector 13"/>
                <p:cNvCxnSpPr/>
                <p:nvPr/>
              </p:nvCxnSpPr>
              <p:spPr>
                <a:xfrm flipH="1">
                  <a:off x="2692649" y="3716713"/>
                  <a:ext cx="818201" cy="516991"/>
                </a:xfrm>
                <a:prstGeom prst="straightConnector1">
                  <a:avLst/>
                </a:prstGeom>
                <a:ln>
                  <a:solidFill>
                    <a:schemeClr val="accent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" name="Straight Arrow Connector 8"/>
              <p:cNvCxnSpPr/>
              <p:nvPr/>
            </p:nvCxnSpPr>
            <p:spPr>
              <a:xfrm>
                <a:off x="2749585" y="2904216"/>
                <a:ext cx="267997" cy="387422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Group 26"/>
          <p:cNvGrpSpPr/>
          <p:nvPr/>
        </p:nvGrpSpPr>
        <p:grpSpPr>
          <a:xfrm>
            <a:off x="421674" y="1720761"/>
            <a:ext cx="8420234" cy="2033436"/>
            <a:chOff x="643055" y="2200119"/>
            <a:chExt cx="8420234" cy="2033436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43055" y="2200119"/>
              <a:ext cx="8326606" cy="2033436"/>
            </a:xfrm>
            <a:prstGeom prst="rect">
              <a:avLst/>
            </a:prstGeom>
            <a:solidFill>
              <a:srgbClr val="CCECFF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342900" indent="-342900" algn="ctr" eaLnBrk="1" hangingPunct="1">
                <a:spcBef>
                  <a:spcPct val="20000"/>
                </a:spcBef>
                <a:buFontTx/>
                <a:buChar char="•"/>
              </a:pPr>
              <a:endParaRPr lang="en-US" smtClean="0">
                <a:ea typeface="Batang" panose="02030600000101010101" pitchFamily="18" charset="-127"/>
              </a:endParaRPr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658473" y="2512904"/>
              <a:ext cx="8404816" cy="1400004"/>
              <a:chOff x="658473" y="2512904"/>
              <a:chExt cx="8404816" cy="1400004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658473" y="2512904"/>
                <a:ext cx="351122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 smtClean="0"/>
                  <a:t>Traversal correctness</a:t>
                </a:r>
              </a:p>
              <a:p>
                <a:pPr algn="ctr"/>
                <a:r>
                  <a:rPr lang="en-US" sz="2800" b="1" dirty="0" smtClean="0"/>
                  <a:t>without interference</a:t>
                </a:r>
                <a:br>
                  <a:rPr lang="en-US" sz="2800" b="1" dirty="0" smtClean="0"/>
                </a:br>
                <a:r>
                  <a:rPr lang="en-US" sz="2800" dirty="0" smtClean="0"/>
                  <a:t>(sequential reasoning)</a:t>
                </a:r>
                <a:endParaRPr lang="en-US" sz="2800" b="1" dirty="0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418629" y="2527913"/>
                <a:ext cx="364466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 smtClean="0"/>
                  <a:t>Traversal correctness </a:t>
                </a:r>
                <a:br>
                  <a:rPr lang="en-US" sz="2800" dirty="0" smtClean="0"/>
                </a:br>
                <a:r>
                  <a:rPr lang="en-US" sz="2800" b="1" dirty="0" smtClean="0">
                    <a:solidFill>
                      <a:srgbClr val="7030A0"/>
                    </a:solidFill>
                  </a:rPr>
                  <a:t>with</a:t>
                </a:r>
                <a:r>
                  <a:rPr lang="en-US" sz="2800" b="1" dirty="0" smtClean="0"/>
                  <a:t> interference</a:t>
                </a:r>
                <a:br>
                  <a:rPr lang="en-US" sz="2800" b="1" dirty="0" smtClean="0"/>
                </a:br>
                <a:r>
                  <a:rPr lang="en-US" sz="2800" dirty="0" smtClean="0"/>
                  <a:t>(concurrent reasoning)</a:t>
                </a:r>
                <a:endParaRPr lang="en-US" sz="2800" b="1" dirty="0"/>
              </a:p>
            </p:txBody>
          </p:sp>
        </p:grpSp>
      </p:grpSp>
      <p:sp>
        <p:nvSpPr>
          <p:cNvPr id="33" name="Right Arrow 32"/>
          <p:cNvSpPr/>
          <p:nvPr/>
        </p:nvSpPr>
        <p:spPr>
          <a:xfrm>
            <a:off x="6227142" y="758346"/>
            <a:ext cx="776133" cy="15240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Arrow 33"/>
          <p:cNvSpPr/>
          <p:nvPr/>
        </p:nvSpPr>
        <p:spPr>
          <a:xfrm>
            <a:off x="4108444" y="2613745"/>
            <a:ext cx="1178673" cy="23144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0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88179" cy="1325563"/>
          </a:xfrm>
        </p:spPr>
        <p:txBody>
          <a:bodyPr/>
          <a:lstStyle/>
          <a:p>
            <a:r>
              <a:rPr lang="en-US" dirty="0"/>
              <a:t>Local View </a:t>
            </a:r>
            <a:r>
              <a:rPr lang="en-US" dirty="0" smtClean="0"/>
              <a:t>Argument</a:t>
            </a:r>
            <a:endParaRPr lang="en-US" dirty="0"/>
          </a:p>
        </p:txBody>
      </p:sp>
      <p:grpSp>
        <p:nvGrpSpPr>
          <p:cNvPr id="42" name="Group 41"/>
          <p:cNvGrpSpPr/>
          <p:nvPr/>
        </p:nvGrpSpPr>
        <p:grpSpPr>
          <a:xfrm>
            <a:off x="1173422" y="2382148"/>
            <a:ext cx="4201368" cy="3342893"/>
            <a:chOff x="1173422" y="2382148"/>
            <a:chExt cx="4201368" cy="3342893"/>
          </a:xfrm>
        </p:grpSpPr>
        <p:sp>
          <p:nvSpPr>
            <p:cNvPr id="43" name="Right Arrow 42"/>
            <p:cNvSpPr/>
            <p:nvPr/>
          </p:nvSpPr>
          <p:spPr>
            <a:xfrm>
              <a:off x="3854309" y="5367684"/>
              <a:ext cx="1520481" cy="298559"/>
            </a:xfrm>
            <a:prstGeom prst="rightArrow">
              <a:avLst/>
            </a:prstGeom>
            <a:solidFill>
              <a:srgbClr val="00B05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3016713" y="2382148"/>
              <a:ext cx="281329" cy="28132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300" dirty="0"/>
                <a:t>7</a:t>
              </a:r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H="1">
              <a:off x="2219112" y="2522813"/>
              <a:ext cx="818201" cy="51699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/>
            <p:nvPr/>
          </p:nvSpPr>
          <p:spPr>
            <a:xfrm>
              <a:off x="2099048" y="2997671"/>
              <a:ext cx="281329" cy="28132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300" dirty="0"/>
                <a:t>4</a:t>
              </a:r>
            </a:p>
          </p:txBody>
        </p:sp>
        <p:cxnSp>
          <p:nvCxnSpPr>
            <p:cNvPr id="47" name="Straight Arrow Connector 46"/>
            <p:cNvCxnSpPr>
              <a:endCxn id="48" idx="0"/>
            </p:cNvCxnSpPr>
            <p:nvPr/>
          </p:nvCxnSpPr>
          <p:spPr>
            <a:xfrm flipH="1">
              <a:off x="1314087" y="3081004"/>
              <a:ext cx="818201" cy="51699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/>
            <p:cNvSpPr/>
            <p:nvPr/>
          </p:nvSpPr>
          <p:spPr>
            <a:xfrm>
              <a:off x="1173422" y="3597995"/>
              <a:ext cx="281329" cy="28132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300" dirty="0" smtClean="0"/>
                <a:t>2</a:t>
              </a:r>
              <a:endParaRPr lang="en-US" sz="2300" dirty="0"/>
            </a:p>
          </p:txBody>
        </p:sp>
        <p:cxnSp>
          <p:nvCxnSpPr>
            <p:cNvPr id="49" name="Straight Arrow Connector 48"/>
            <p:cNvCxnSpPr>
              <a:endCxn id="50" idx="0"/>
            </p:cNvCxnSpPr>
            <p:nvPr/>
          </p:nvCxnSpPr>
          <p:spPr>
            <a:xfrm>
              <a:off x="1430588" y="3670135"/>
              <a:ext cx="666499" cy="45132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1813796" y="4121463"/>
              <a:ext cx="566581" cy="36933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null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pic>
          <p:nvPicPr>
            <p:cNvPr id="5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6362" y="5217583"/>
              <a:ext cx="1564661" cy="5074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3" name="Group 32"/>
          <p:cNvGrpSpPr/>
          <p:nvPr/>
        </p:nvGrpSpPr>
        <p:grpSpPr>
          <a:xfrm>
            <a:off x="3065125" y="1743849"/>
            <a:ext cx="3179938" cy="3484314"/>
            <a:chOff x="5625739" y="2278504"/>
            <a:chExt cx="3179938" cy="3484314"/>
          </a:xfrm>
        </p:grpSpPr>
        <p:sp>
          <p:nvSpPr>
            <p:cNvPr id="34" name="Cloud 33"/>
            <p:cNvSpPr/>
            <p:nvPr/>
          </p:nvSpPr>
          <p:spPr>
            <a:xfrm>
              <a:off x="5625739" y="2278504"/>
              <a:ext cx="3179938" cy="2322732"/>
            </a:xfrm>
            <a:prstGeom prst="cloud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810689" y="2531899"/>
              <a:ext cx="904775" cy="1908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800" dirty="0" smtClean="0">
                  <a:solidFill>
                    <a:srgbClr val="C00000"/>
                  </a:solidFill>
                </a:rPr>
                <a:t>?</a:t>
              </a:r>
              <a:endParaRPr lang="en-US" sz="11800" dirty="0">
                <a:solidFill>
                  <a:srgbClr val="C00000"/>
                </a:solidFill>
              </a:endParaRPr>
            </a:p>
          </p:txBody>
        </p:sp>
        <p:pic>
          <p:nvPicPr>
            <p:cNvPr id="3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9701" y="5153084"/>
              <a:ext cx="2308278" cy="6097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0817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0.00556 L 0.13993 0.00556 C 0.2026 0.00556 0.27986 0.02454 0.27986 0.04005 L 0.27986 0.07477 " pathEditMode="relative" rAng="0" ptsTypes="AAAA">
                                      <p:cBhvr>
                                        <p:cTn id="6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93" y="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88179" cy="1325563"/>
          </a:xfrm>
        </p:spPr>
        <p:txBody>
          <a:bodyPr/>
          <a:lstStyle/>
          <a:p>
            <a:r>
              <a:rPr lang="en-US" dirty="0"/>
              <a:t>Local View </a:t>
            </a:r>
            <a:r>
              <a:rPr lang="en-US" dirty="0" smtClean="0"/>
              <a:t>Argument</a:t>
            </a:r>
            <a:endParaRPr 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362" y="5217583"/>
            <a:ext cx="1564661" cy="507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501995" y="3014149"/>
            <a:ext cx="3231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7030A0"/>
                </a:solidFill>
              </a:rPr>
              <a:t>Sequential reasoning</a:t>
            </a:r>
            <a:r>
              <a:rPr lang="en-US" sz="2400" dirty="0" smtClean="0">
                <a:solidFill>
                  <a:schemeClr val="accent2"/>
                </a:solidFill>
              </a:rPr>
              <a:t> to show traversal correct </a:t>
            </a:r>
            <a:r>
              <a:rPr lang="en-US" sz="2400" dirty="0" smtClean="0">
                <a:solidFill>
                  <a:srgbClr val="7030A0"/>
                </a:solidFill>
              </a:rPr>
              <a:t>without interference</a:t>
            </a:r>
            <a:endParaRPr lang="en-US" sz="2400" b="1" dirty="0">
              <a:solidFill>
                <a:srgbClr val="7030A0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625739" y="2253790"/>
            <a:ext cx="3179938" cy="3484314"/>
            <a:chOff x="5625739" y="2278504"/>
            <a:chExt cx="3179938" cy="3484314"/>
          </a:xfrm>
        </p:grpSpPr>
        <p:sp>
          <p:nvSpPr>
            <p:cNvPr id="13" name="Cloud 12"/>
            <p:cNvSpPr/>
            <p:nvPr/>
          </p:nvSpPr>
          <p:spPr>
            <a:xfrm>
              <a:off x="5625739" y="2278504"/>
              <a:ext cx="3179938" cy="2322732"/>
            </a:xfrm>
            <a:prstGeom prst="cloud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10689" y="2531899"/>
              <a:ext cx="904775" cy="1908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800" dirty="0" smtClean="0">
                  <a:solidFill>
                    <a:srgbClr val="C00000"/>
                  </a:solidFill>
                </a:rPr>
                <a:t>?</a:t>
              </a:r>
              <a:endParaRPr lang="en-US" sz="11800" dirty="0">
                <a:solidFill>
                  <a:srgbClr val="C00000"/>
                </a:solidFill>
              </a:endParaRPr>
            </a:p>
          </p:txBody>
        </p:sp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9701" y="5153084"/>
              <a:ext cx="2308278" cy="6097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5" name="Right Arrow 14"/>
          <p:cNvSpPr/>
          <p:nvPr/>
        </p:nvSpPr>
        <p:spPr>
          <a:xfrm>
            <a:off x="3854309" y="5367684"/>
            <a:ext cx="1520481" cy="298559"/>
          </a:xfrm>
          <a:prstGeom prst="rightArrow">
            <a:avLst/>
          </a:prstGeom>
          <a:solidFill>
            <a:srgbClr val="00B05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3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88179" cy="1325563"/>
          </a:xfrm>
        </p:spPr>
        <p:txBody>
          <a:bodyPr/>
          <a:lstStyle/>
          <a:p>
            <a:r>
              <a:rPr lang="en-US" dirty="0"/>
              <a:t>Local View </a:t>
            </a:r>
            <a:r>
              <a:rPr lang="en-US" dirty="0" smtClean="0"/>
              <a:t>Argument</a:t>
            </a:r>
            <a:endParaRPr 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362" y="5217583"/>
            <a:ext cx="1564661" cy="507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501995" y="3014149"/>
            <a:ext cx="3231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7030A0"/>
                </a:solidFill>
              </a:rPr>
              <a:t>Sequential reasoning</a:t>
            </a:r>
            <a:r>
              <a:rPr lang="en-US" sz="2400" dirty="0" smtClean="0">
                <a:solidFill>
                  <a:schemeClr val="accent2"/>
                </a:solidFill>
              </a:rPr>
              <a:t> to show traversal correct </a:t>
            </a:r>
            <a:r>
              <a:rPr lang="en-US" sz="2400" dirty="0" smtClean="0">
                <a:solidFill>
                  <a:srgbClr val="7030A0"/>
                </a:solidFill>
              </a:rPr>
              <a:t>without interference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24389" y="3024371"/>
            <a:ext cx="32311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Correctness of concurrent traversals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854309" y="5367684"/>
            <a:ext cx="1520481" cy="298559"/>
          </a:xfrm>
          <a:prstGeom prst="rightArrow">
            <a:avLst/>
          </a:prstGeom>
          <a:solidFill>
            <a:srgbClr val="00B05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701" y="5128370"/>
            <a:ext cx="2308278" cy="609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628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88179" cy="1325563"/>
          </a:xfrm>
        </p:spPr>
        <p:txBody>
          <a:bodyPr/>
          <a:lstStyle/>
          <a:p>
            <a:r>
              <a:rPr lang="en-US" dirty="0"/>
              <a:t>Local View </a:t>
            </a:r>
            <a:r>
              <a:rPr lang="en-US" dirty="0" smtClean="0"/>
              <a:t>Argument</a:t>
            </a:r>
            <a:endParaRPr 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362" y="5217583"/>
            <a:ext cx="1564661" cy="507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501995" y="3014149"/>
            <a:ext cx="3231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7030A0"/>
                </a:solidFill>
              </a:rPr>
              <a:t>Sequential reasoning</a:t>
            </a:r>
            <a:r>
              <a:rPr lang="en-US" sz="2400" dirty="0" smtClean="0">
                <a:solidFill>
                  <a:schemeClr val="accent2"/>
                </a:solidFill>
              </a:rPr>
              <a:t> to show traversal correct </a:t>
            </a:r>
            <a:r>
              <a:rPr lang="en-US" sz="2400" dirty="0" smtClean="0">
                <a:solidFill>
                  <a:srgbClr val="7030A0"/>
                </a:solidFill>
              </a:rPr>
              <a:t>without interference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3854309" y="5367684"/>
            <a:ext cx="1520481" cy="298559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961023" y="2283075"/>
            <a:ext cx="3231106" cy="46166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7030A0"/>
                </a:solidFill>
              </a:rPr>
              <a:t>Order &amp; Preservation</a:t>
            </a:r>
            <a:endParaRPr lang="en-US" sz="2400" b="1" dirty="0">
              <a:solidFill>
                <a:srgbClr val="7030A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710" y="0"/>
            <a:ext cx="3013290" cy="1870997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 flipH="1">
            <a:off x="4560592" y="2744740"/>
            <a:ext cx="15984" cy="2667548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24389" y="3024371"/>
            <a:ext cx="32311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Correctness of concurrent traversals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701" y="5128370"/>
            <a:ext cx="2308278" cy="609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307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 1: Order on Memory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4578617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 smtClean="0">
                    <a:solidFill>
                      <a:srgbClr val="7030A0"/>
                    </a:solidFill>
                  </a:rPr>
                  <a:t>Partial order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dirty="0" smtClean="0"/>
                  <a:t> on </a:t>
                </a:r>
                <a:r>
                  <a:rPr lang="en-US" b="1" dirty="0" smtClean="0"/>
                  <a:t>memory</a:t>
                </a:r>
                <a:r>
                  <a:rPr lang="en-US" dirty="0" smtClean="0"/>
                  <a:t> </a:t>
                </a:r>
                <a:br>
                  <a:rPr lang="en-US" dirty="0" smtClean="0"/>
                </a:br>
                <a:r>
                  <a:rPr lang="en-US" dirty="0" smtClean="0"/>
                  <a:t>induced by the </a:t>
                </a:r>
                <a:r>
                  <a:rPr lang="en-US" b="1" dirty="0" smtClean="0">
                    <a:solidFill>
                      <a:srgbClr val="7030A0"/>
                    </a:solidFill>
                  </a:rPr>
                  <a:t>pointers</a:t>
                </a:r>
                <a:r>
                  <a:rPr lang="en-US" b="1" dirty="0" smtClean="0"/>
                  <a:t> </a:t>
                </a:r>
                <a:r>
                  <a:rPr lang="en-US" dirty="0" smtClean="0"/>
                  <a:t>in the global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b="0" dirty="0" smtClean="0"/>
                  <a:t> </a:t>
                </a:r>
                <a:br>
                  <a:rPr lang="en-US" b="0" dirty="0" smtClean="0"/>
                </a:br>
                <a:r>
                  <a:rPr lang="en-US" dirty="0" smtClean="0"/>
                  <a:t>(</a:t>
                </a:r>
                <a:r>
                  <a:rPr lang="en-US" b="1" dirty="0" smtClean="0"/>
                  <a:t>not </a:t>
                </a:r>
                <a:r>
                  <a:rPr lang="en-US" dirty="0" smtClean="0"/>
                  <a:t>order on the data)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r>
                  <a:rPr lang="en-US" dirty="0" smtClean="0"/>
                  <a:t>Reads follow the order</a:t>
                </a:r>
              </a:p>
              <a:p>
                <a:r>
                  <a:rPr lang="en-US" dirty="0" smtClean="0"/>
                  <a:t>Search paths follow the order</a:t>
                </a:r>
              </a:p>
              <a:p>
                <a:r>
                  <a:rPr lang="en-US" b="1" dirty="0" smtClean="0"/>
                  <a:t>Temporal </a:t>
                </a:r>
                <a:r>
                  <a:rPr lang="en-US" b="1" dirty="0" err="1" smtClean="0"/>
                  <a:t>acyclicity</a:t>
                </a:r>
                <a:r>
                  <a:rPr lang="en-US" dirty="0" smtClean="0"/>
                  <a:t>: the order is not violated across intermediate states</a:t>
                </a:r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4578617" cy="4351338"/>
              </a:xfrm>
              <a:blipFill>
                <a:blip r:embed="rId2"/>
                <a:stretch>
                  <a:fillRect l="-1997" t="-2101" r="-1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5012500" y="1825625"/>
            <a:ext cx="3502850" cy="2086207"/>
            <a:chOff x="5012500" y="1825625"/>
            <a:chExt cx="3502850" cy="2086207"/>
          </a:xfrm>
        </p:grpSpPr>
        <p:grpSp>
          <p:nvGrpSpPr>
            <p:cNvPr id="4" name="Group 3"/>
            <p:cNvGrpSpPr/>
            <p:nvPr/>
          </p:nvGrpSpPr>
          <p:grpSpPr>
            <a:xfrm>
              <a:off x="5012500" y="1825625"/>
              <a:ext cx="3502850" cy="2086207"/>
              <a:chOff x="4821536" y="3072862"/>
              <a:chExt cx="4041464" cy="2406991"/>
            </a:xfrm>
          </p:grpSpPr>
          <p:cxnSp>
            <p:nvCxnSpPr>
              <p:cNvPr id="7" name="Straight Arrow Connector 6"/>
              <p:cNvCxnSpPr/>
              <p:nvPr/>
            </p:nvCxnSpPr>
            <p:spPr>
              <a:xfrm>
                <a:off x="5927276" y="4737176"/>
                <a:ext cx="666499" cy="451328"/>
              </a:xfrm>
              <a:prstGeom prst="straightConnector1">
                <a:avLst/>
              </a:prstGeom>
              <a:ln w="19050"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Oval 7"/>
              <p:cNvSpPr/>
              <p:nvPr/>
            </p:nvSpPr>
            <p:spPr>
              <a:xfrm>
                <a:off x="6488311" y="5174631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7513401" y="3449189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6595736" y="4064712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11" name="Straight Arrow Connector 10"/>
              <p:cNvCxnSpPr>
                <a:endCxn id="12" idx="0"/>
              </p:cNvCxnSpPr>
              <p:nvPr/>
            </p:nvCxnSpPr>
            <p:spPr>
              <a:xfrm flipH="1">
                <a:off x="5810775" y="4148045"/>
                <a:ext cx="818201" cy="516991"/>
              </a:xfrm>
              <a:prstGeom prst="straightConnector1">
                <a:avLst/>
              </a:prstGeom>
              <a:ln w="19050"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5670110" y="4665036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>
                <a:off x="7397456" y="3072862"/>
                <a:ext cx="267997" cy="387422"/>
              </a:xfrm>
              <a:prstGeom prst="straightConnector1">
                <a:avLst/>
              </a:prstGeom>
              <a:ln w="19050"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/>
              <p:cNvSpPr/>
              <p:nvPr/>
            </p:nvSpPr>
            <p:spPr>
              <a:xfrm>
                <a:off x="4821536" y="5198524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15" name="Straight Arrow Connector 14"/>
              <p:cNvCxnSpPr>
                <a:endCxn id="14" idx="0"/>
              </p:cNvCxnSpPr>
              <p:nvPr/>
            </p:nvCxnSpPr>
            <p:spPr>
              <a:xfrm flipH="1">
                <a:off x="4962201" y="4723303"/>
                <a:ext cx="731028" cy="475221"/>
              </a:xfrm>
              <a:prstGeom prst="straightConnector1">
                <a:avLst/>
              </a:prstGeom>
              <a:ln w="19050"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Oval 15"/>
              <p:cNvSpPr/>
              <p:nvPr/>
            </p:nvSpPr>
            <p:spPr>
              <a:xfrm>
                <a:off x="8581671" y="4116091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17" name="Straight Arrow Connector 16"/>
              <p:cNvCxnSpPr>
                <a:endCxn id="16" idx="0"/>
              </p:cNvCxnSpPr>
              <p:nvPr/>
            </p:nvCxnSpPr>
            <p:spPr>
              <a:xfrm>
                <a:off x="7794730" y="3558911"/>
                <a:ext cx="927606" cy="557181"/>
              </a:xfrm>
              <a:prstGeom prst="straightConnector1">
                <a:avLst/>
              </a:prstGeom>
              <a:ln w="19050"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/>
              <p:nvPr/>
            </p:nvCxnSpPr>
            <p:spPr>
              <a:xfrm flipH="1">
                <a:off x="6715800" y="3589854"/>
                <a:ext cx="818201" cy="516991"/>
              </a:xfrm>
              <a:prstGeom prst="straightConnector1">
                <a:avLst/>
              </a:prstGeom>
              <a:ln w="19050"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 rot="19537681">
                  <a:off x="5956031" y="2136892"/>
                  <a:ext cx="497133" cy="73866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m:oMathPara>
                  </a14:m>
                  <a:endParaRPr lang="en-US" sz="4800" i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537681">
                  <a:off x="5956031" y="2136892"/>
                  <a:ext cx="497133" cy="73866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3825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080452" cy="1325563"/>
          </a:xfrm>
        </p:spPr>
        <p:txBody>
          <a:bodyPr/>
          <a:lstStyle/>
          <a:p>
            <a:r>
              <a:rPr lang="en-US" dirty="0" smtClean="0"/>
              <a:t>Requirement 1: Temporal </a:t>
            </a:r>
            <a:r>
              <a:rPr lang="en-US" dirty="0" err="1" smtClean="0"/>
              <a:t>Acyclicity</a:t>
            </a:r>
            <a:endParaRPr lang="en-US" dirty="0"/>
          </a:p>
        </p:txBody>
      </p:sp>
      <p:sp>
        <p:nvSpPr>
          <p:cNvPr id="54" name="Content Placeholder 5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16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>
            <a:endCxn id="8" idx="0"/>
          </p:cNvCxnSpPr>
          <p:nvPr/>
        </p:nvCxnSpPr>
        <p:spPr>
          <a:xfrm flipH="1">
            <a:off x="4442088" y="2342945"/>
            <a:ext cx="797601" cy="47485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3632963" y="3490267"/>
            <a:ext cx="666499" cy="45132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193998" y="3927722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sp>
        <p:nvSpPr>
          <p:cNvPr id="7" name="Oval 6"/>
          <p:cNvSpPr/>
          <p:nvPr/>
        </p:nvSpPr>
        <p:spPr>
          <a:xfrm>
            <a:off x="5219088" y="2202280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4301423" y="281780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9" name="Straight Arrow Connector 8"/>
          <p:cNvCxnSpPr>
            <a:endCxn id="10" idx="0"/>
          </p:cNvCxnSpPr>
          <p:nvPr/>
        </p:nvCxnSpPr>
        <p:spPr>
          <a:xfrm flipH="1">
            <a:off x="3516462" y="2901136"/>
            <a:ext cx="818201" cy="51699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75797" y="3418127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103143" y="1825953"/>
            <a:ext cx="267997" cy="38742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27223" y="3951615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13" name="Straight Arrow Connector 12"/>
          <p:cNvCxnSpPr>
            <a:endCxn id="12" idx="0"/>
          </p:cNvCxnSpPr>
          <p:nvPr/>
        </p:nvCxnSpPr>
        <p:spPr>
          <a:xfrm flipH="1">
            <a:off x="2667888" y="3476394"/>
            <a:ext cx="731028" cy="47522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87358" y="2869182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15" name="Straight Arrow Connector 14"/>
          <p:cNvCxnSpPr>
            <a:endCxn id="14" idx="0"/>
          </p:cNvCxnSpPr>
          <p:nvPr/>
        </p:nvCxnSpPr>
        <p:spPr>
          <a:xfrm>
            <a:off x="5500417" y="2312002"/>
            <a:ext cx="927606" cy="55718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/>
          <p:cNvSpPr txBox="1">
            <a:spLocks/>
          </p:cNvSpPr>
          <p:nvPr/>
        </p:nvSpPr>
        <p:spPr>
          <a:xfrm>
            <a:off x="628650" y="365126"/>
            <a:ext cx="80804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Requirement 1: Temporal Acyclicity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>
            <a:endCxn id="8" idx="0"/>
          </p:cNvCxnSpPr>
          <p:nvPr/>
        </p:nvCxnSpPr>
        <p:spPr>
          <a:xfrm flipH="1">
            <a:off x="4442088" y="2342945"/>
            <a:ext cx="797601" cy="47485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  <a:effectLst>
            <a:glow rad="76200">
              <a:srgbClr val="7030A0">
                <a:alpha val="8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3632963" y="3490267"/>
            <a:ext cx="666499" cy="45132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193998" y="3927722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sp>
        <p:nvSpPr>
          <p:cNvPr id="7" name="Oval 6"/>
          <p:cNvSpPr/>
          <p:nvPr/>
        </p:nvSpPr>
        <p:spPr>
          <a:xfrm>
            <a:off x="5219088" y="2202280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4301423" y="281780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9" name="Straight Arrow Connector 8"/>
          <p:cNvCxnSpPr>
            <a:endCxn id="10" idx="0"/>
          </p:cNvCxnSpPr>
          <p:nvPr/>
        </p:nvCxnSpPr>
        <p:spPr>
          <a:xfrm flipH="1">
            <a:off x="3516462" y="2901136"/>
            <a:ext cx="818201" cy="51699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75797" y="3418127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103143" y="1825953"/>
            <a:ext cx="267997" cy="38742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27223" y="3951615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13" name="Straight Arrow Connector 12"/>
          <p:cNvCxnSpPr>
            <a:endCxn id="12" idx="0"/>
          </p:cNvCxnSpPr>
          <p:nvPr/>
        </p:nvCxnSpPr>
        <p:spPr>
          <a:xfrm flipH="1">
            <a:off x="2667888" y="3476394"/>
            <a:ext cx="731028" cy="47522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87358" y="2869182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15" name="Straight Arrow Connector 14"/>
          <p:cNvCxnSpPr>
            <a:endCxn id="14" idx="0"/>
          </p:cNvCxnSpPr>
          <p:nvPr/>
        </p:nvCxnSpPr>
        <p:spPr>
          <a:xfrm>
            <a:off x="5500417" y="2312002"/>
            <a:ext cx="927606" cy="55718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148140" y="1854136"/>
                <a:ext cx="21224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/>
                  <a:t>e.g.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&amp;4&gt;&amp;7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40" y="1854136"/>
                <a:ext cx="2122480" cy="400110"/>
              </a:xfrm>
              <a:prstGeom prst="rect">
                <a:avLst/>
              </a:prstGeom>
              <a:blipFill>
                <a:blip r:embed="rId2"/>
                <a:stretch>
                  <a:fillRect l="-3161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itle 1"/>
          <p:cNvSpPr txBox="1">
            <a:spLocks/>
          </p:cNvSpPr>
          <p:nvPr/>
        </p:nvSpPr>
        <p:spPr>
          <a:xfrm>
            <a:off x="628650" y="365126"/>
            <a:ext cx="80804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Requirement 1: Temporal </a:t>
            </a:r>
            <a:r>
              <a:rPr lang="en-US" dirty="0" err="1" smtClean="0"/>
              <a:t>Acyclicity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32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>
            <a:endCxn id="8" idx="0"/>
          </p:cNvCxnSpPr>
          <p:nvPr/>
        </p:nvCxnSpPr>
        <p:spPr>
          <a:xfrm flipH="1">
            <a:off x="4442088" y="2342945"/>
            <a:ext cx="797601" cy="47485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3632963" y="3490267"/>
            <a:ext cx="666499" cy="45132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193998" y="3927722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sp>
        <p:nvSpPr>
          <p:cNvPr id="7" name="Oval 6"/>
          <p:cNvSpPr/>
          <p:nvPr/>
        </p:nvSpPr>
        <p:spPr>
          <a:xfrm>
            <a:off x="5219088" y="2202280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4301423" y="281780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9" name="Straight Arrow Connector 8"/>
          <p:cNvCxnSpPr>
            <a:endCxn id="10" idx="0"/>
          </p:cNvCxnSpPr>
          <p:nvPr/>
        </p:nvCxnSpPr>
        <p:spPr>
          <a:xfrm flipH="1">
            <a:off x="3516462" y="2901136"/>
            <a:ext cx="818201" cy="51699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75797" y="3418127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103143" y="1825953"/>
            <a:ext cx="267997" cy="38742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27223" y="3951615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13" name="Straight Arrow Connector 12"/>
          <p:cNvCxnSpPr>
            <a:endCxn id="12" idx="0"/>
          </p:cNvCxnSpPr>
          <p:nvPr/>
        </p:nvCxnSpPr>
        <p:spPr>
          <a:xfrm flipH="1">
            <a:off x="2667888" y="3476394"/>
            <a:ext cx="731028" cy="47522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87358" y="2869182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15" name="Straight Arrow Connector 14"/>
          <p:cNvCxnSpPr>
            <a:endCxn id="14" idx="0"/>
          </p:cNvCxnSpPr>
          <p:nvPr/>
        </p:nvCxnSpPr>
        <p:spPr>
          <a:xfrm>
            <a:off x="5500417" y="2312002"/>
            <a:ext cx="927606" cy="55718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 txBox="1">
            <a:spLocks/>
          </p:cNvSpPr>
          <p:nvPr/>
        </p:nvSpPr>
        <p:spPr>
          <a:xfrm>
            <a:off x="628650" y="365126"/>
            <a:ext cx="80804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Requirement 1: Temporal </a:t>
            </a:r>
            <a:r>
              <a:rPr lang="en-US" dirty="0" err="1" smtClean="0"/>
              <a:t>Acyclicity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8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>
            <a:endCxn id="8" idx="0"/>
          </p:cNvCxnSpPr>
          <p:nvPr/>
        </p:nvCxnSpPr>
        <p:spPr>
          <a:xfrm flipH="1">
            <a:off x="4442088" y="2342945"/>
            <a:ext cx="797601" cy="474858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triangle"/>
          </a:ln>
          <a:effectLst>
            <a:glow rad="127000">
              <a:srgbClr val="7030A0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3632963" y="3490267"/>
            <a:ext cx="666499" cy="45132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193998" y="3927722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sp>
        <p:nvSpPr>
          <p:cNvPr id="7" name="Oval 6"/>
          <p:cNvSpPr/>
          <p:nvPr/>
        </p:nvSpPr>
        <p:spPr>
          <a:xfrm>
            <a:off x="5219088" y="2202280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4301423" y="281780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9" name="Straight Arrow Connector 8"/>
          <p:cNvCxnSpPr>
            <a:endCxn id="10" idx="0"/>
          </p:cNvCxnSpPr>
          <p:nvPr/>
        </p:nvCxnSpPr>
        <p:spPr>
          <a:xfrm flipH="1">
            <a:off x="3516462" y="2901136"/>
            <a:ext cx="818201" cy="51699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75797" y="3418127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103143" y="1825953"/>
            <a:ext cx="267997" cy="38742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27223" y="3951615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13" name="Straight Arrow Connector 12"/>
          <p:cNvCxnSpPr>
            <a:endCxn id="12" idx="0"/>
          </p:cNvCxnSpPr>
          <p:nvPr/>
        </p:nvCxnSpPr>
        <p:spPr>
          <a:xfrm flipH="1">
            <a:off x="2667888" y="3476394"/>
            <a:ext cx="731028" cy="47522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87358" y="2869182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15" name="Straight Arrow Connector 14"/>
          <p:cNvCxnSpPr>
            <a:endCxn id="14" idx="0"/>
          </p:cNvCxnSpPr>
          <p:nvPr/>
        </p:nvCxnSpPr>
        <p:spPr>
          <a:xfrm>
            <a:off x="5500417" y="2312002"/>
            <a:ext cx="927606" cy="55718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3520486" y="2258023"/>
            <a:ext cx="1713297" cy="1174282"/>
          </a:xfrm>
          <a:custGeom>
            <a:avLst/>
            <a:gdLst>
              <a:gd name="connsiteX0" fmla="*/ 1713297 w 1713297"/>
              <a:gd name="connsiteY0" fmla="*/ 0 h 1174282"/>
              <a:gd name="connsiteX1" fmla="*/ 567891 w 1713297"/>
              <a:gd name="connsiteY1" fmla="*/ 298383 h 1174282"/>
              <a:gd name="connsiteX2" fmla="*/ 0 w 1713297"/>
              <a:gd name="connsiteY2" fmla="*/ 1174282 h 117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3297" h="1174282">
                <a:moveTo>
                  <a:pt x="1713297" y="0"/>
                </a:moveTo>
                <a:cubicBezTo>
                  <a:pt x="1283368" y="51334"/>
                  <a:pt x="853440" y="102669"/>
                  <a:pt x="567891" y="298383"/>
                </a:cubicBezTo>
                <a:cubicBezTo>
                  <a:pt x="282341" y="494097"/>
                  <a:pt x="80210" y="1070009"/>
                  <a:pt x="0" y="1174282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47849" y="2005796"/>
            <a:ext cx="124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remove(4)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840628" y="2121395"/>
                <a:ext cx="26747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/>
                  <a:t>now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&amp;4,&amp;7</m:t>
                    </m:r>
                  </m:oMath>
                </a14:m>
                <a:r>
                  <a:rPr lang="en-US" sz="2000" dirty="0" smtClean="0"/>
                  <a:t> unordered</a:t>
                </a:r>
                <a:endParaRPr lang="en-US" sz="2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628" y="2121395"/>
                <a:ext cx="2674721" cy="400110"/>
              </a:xfrm>
              <a:prstGeom prst="rect">
                <a:avLst/>
              </a:prstGeom>
              <a:blipFill>
                <a:blip r:embed="rId2"/>
                <a:stretch>
                  <a:fillRect l="-2278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itle 1"/>
          <p:cNvSpPr txBox="1">
            <a:spLocks/>
          </p:cNvSpPr>
          <p:nvPr/>
        </p:nvSpPr>
        <p:spPr>
          <a:xfrm>
            <a:off x="628650" y="365126"/>
            <a:ext cx="80804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Requirement 1: Temporal </a:t>
            </a:r>
            <a:r>
              <a:rPr lang="en-US" dirty="0" err="1" smtClean="0"/>
              <a:t>Acyclicity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033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>
            <a:endCxn id="8" idx="0"/>
          </p:cNvCxnSpPr>
          <p:nvPr/>
        </p:nvCxnSpPr>
        <p:spPr>
          <a:xfrm flipH="1">
            <a:off x="4442088" y="2342945"/>
            <a:ext cx="797601" cy="474858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3632963" y="3490267"/>
            <a:ext cx="666499" cy="451328"/>
          </a:xfrm>
          <a:prstGeom prst="straightConnector1">
            <a:avLst/>
          </a:prstGeom>
          <a:ln w="28575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193998" y="3927722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sp>
        <p:nvSpPr>
          <p:cNvPr id="7" name="Oval 6"/>
          <p:cNvSpPr/>
          <p:nvPr/>
        </p:nvSpPr>
        <p:spPr>
          <a:xfrm>
            <a:off x="5219088" y="2202280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4301423" y="281780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9" name="Straight Arrow Connector 8"/>
          <p:cNvCxnSpPr>
            <a:endCxn id="10" idx="0"/>
          </p:cNvCxnSpPr>
          <p:nvPr/>
        </p:nvCxnSpPr>
        <p:spPr>
          <a:xfrm flipH="1">
            <a:off x="3516462" y="2901136"/>
            <a:ext cx="818201" cy="51699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75797" y="3418127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103143" y="1825953"/>
            <a:ext cx="267997" cy="38742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27223" y="3951615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13" name="Straight Arrow Connector 12"/>
          <p:cNvCxnSpPr>
            <a:endCxn id="12" idx="0"/>
          </p:cNvCxnSpPr>
          <p:nvPr/>
        </p:nvCxnSpPr>
        <p:spPr>
          <a:xfrm flipH="1">
            <a:off x="2667888" y="3476394"/>
            <a:ext cx="731028" cy="47522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87358" y="2869182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15" name="Straight Arrow Connector 14"/>
          <p:cNvCxnSpPr>
            <a:endCxn id="14" idx="0"/>
          </p:cNvCxnSpPr>
          <p:nvPr/>
        </p:nvCxnSpPr>
        <p:spPr>
          <a:xfrm>
            <a:off x="5500417" y="2312002"/>
            <a:ext cx="927606" cy="55718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3520486" y="2258023"/>
            <a:ext cx="1713297" cy="1174282"/>
          </a:xfrm>
          <a:custGeom>
            <a:avLst/>
            <a:gdLst>
              <a:gd name="connsiteX0" fmla="*/ 1713297 w 1713297"/>
              <a:gd name="connsiteY0" fmla="*/ 0 h 1174282"/>
              <a:gd name="connsiteX1" fmla="*/ 567891 w 1713297"/>
              <a:gd name="connsiteY1" fmla="*/ 298383 h 1174282"/>
              <a:gd name="connsiteX2" fmla="*/ 0 w 1713297"/>
              <a:gd name="connsiteY2" fmla="*/ 1174282 h 117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3297" h="1174282">
                <a:moveTo>
                  <a:pt x="1713297" y="0"/>
                </a:moveTo>
                <a:cubicBezTo>
                  <a:pt x="1283368" y="51334"/>
                  <a:pt x="853440" y="102669"/>
                  <a:pt x="567891" y="298383"/>
                </a:cubicBezTo>
                <a:cubicBezTo>
                  <a:pt x="282341" y="494097"/>
                  <a:pt x="80210" y="1070009"/>
                  <a:pt x="0" y="1174282"/>
                </a:cubicBezTo>
              </a:path>
            </a:pathLst>
          </a:custGeom>
          <a:noFill/>
          <a:ln w="127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47849" y="2005796"/>
            <a:ext cx="124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remove(4)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974666" y="3406059"/>
            <a:ext cx="1262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dirty="0" smtClean="0"/>
              <a:t>emove(3)</a:t>
            </a:r>
            <a:endParaRPr lang="en-US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628650" y="365126"/>
            <a:ext cx="80804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Requirement 1: Temporal </a:t>
            </a:r>
            <a:r>
              <a:rPr lang="en-US" dirty="0" err="1" smtClean="0"/>
              <a:t>Acyclicity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85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277" y="4966430"/>
            <a:ext cx="7814950" cy="10374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u="sng" dirty="0" smtClean="0"/>
              <a:t>Requirement</a:t>
            </a:r>
            <a:r>
              <a:rPr lang="en-US" sz="3200" dirty="0" smtClean="0"/>
              <a:t>: no cycles in accumulated order</a:t>
            </a:r>
          </a:p>
        </p:txBody>
      </p:sp>
      <p:cxnSp>
        <p:nvCxnSpPr>
          <p:cNvPr id="4" name="Straight Arrow Connector 3"/>
          <p:cNvCxnSpPr>
            <a:endCxn id="8" idx="0"/>
          </p:cNvCxnSpPr>
          <p:nvPr/>
        </p:nvCxnSpPr>
        <p:spPr>
          <a:xfrm flipH="1">
            <a:off x="4442088" y="2342945"/>
            <a:ext cx="797601" cy="47485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3632963" y="3490267"/>
            <a:ext cx="666499" cy="45132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193998" y="3927722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sp>
        <p:nvSpPr>
          <p:cNvPr id="7" name="Oval 6"/>
          <p:cNvSpPr/>
          <p:nvPr/>
        </p:nvSpPr>
        <p:spPr>
          <a:xfrm>
            <a:off x="5219088" y="2202280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4301423" y="281780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9" name="Straight Arrow Connector 8"/>
          <p:cNvCxnSpPr>
            <a:endCxn id="10" idx="0"/>
          </p:cNvCxnSpPr>
          <p:nvPr/>
        </p:nvCxnSpPr>
        <p:spPr>
          <a:xfrm flipH="1">
            <a:off x="3516462" y="2901136"/>
            <a:ext cx="818201" cy="516991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75797" y="3418127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103143" y="1825953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27223" y="3951615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13" name="Straight Arrow Connector 12"/>
          <p:cNvCxnSpPr>
            <a:endCxn id="12" idx="0"/>
          </p:cNvCxnSpPr>
          <p:nvPr/>
        </p:nvCxnSpPr>
        <p:spPr>
          <a:xfrm flipH="1">
            <a:off x="2667888" y="3476394"/>
            <a:ext cx="731028" cy="475221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87358" y="2869182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15" name="Straight Arrow Connector 14"/>
          <p:cNvCxnSpPr>
            <a:endCxn id="14" idx="0"/>
          </p:cNvCxnSpPr>
          <p:nvPr/>
        </p:nvCxnSpPr>
        <p:spPr>
          <a:xfrm>
            <a:off x="5500417" y="2312002"/>
            <a:ext cx="927606" cy="557181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 rot="19537681">
                <a:off x="3293825" y="2143961"/>
                <a:ext cx="497133" cy="73866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4800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37681">
                <a:off x="3293825" y="2143961"/>
                <a:ext cx="497133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 15"/>
          <p:cNvSpPr/>
          <p:nvPr/>
        </p:nvSpPr>
        <p:spPr>
          <a:xfrm>
            <a:off x="3520486" y="2258023"/>
            <a:ext cx="1713297" cy="1174282"/>
          </a:xfrm>
          <a:custGeom>
            <a:avLst/>
            <a:gdLst>
              <a:gd name="connsiteX0" fmla="*/ 1713297 w 1713297"/>
              <a:gd name="connsiteY0" fmla="*/ 0 h 1174282"/>
              <a:gd name="connsiteX1" fmla="*/ 567891 w 1713297"/>
              <a:gd name="connsiteY1" fmla="*/ 298383 h 1174282"/>
              <a:gd name="connsiteX2" fmla="*/ 0 w 1713297"/>
              <a:gd name="connsiteY2" fmla="*/ 1174282 h 117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3297" h="1174282">
                <a:moveTo>
                  <a:pt x="1713297" y="0"/>
                </a:moveTo>
                <a:cubicBezTo>
                  <a:pt x="1283368" y="51334"/>
                  <a:pt x="853440" y="102669"/>
                  <a:pt x="567891" y="298383"/>
                </a:cubicBezTo>
                <a:cubicBezTo>
                  <a:pt x="282341" y="494097"/>
                  <a:pt x="80210" y="1070009"/>
                  <a:pt x="0" y="1174282"/>
                </a:cubicBezTo>
              </a:path>
            </a:pathLst>
          </a:custGeom>
          <a:noFill/>
          <a:ln w="1905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628650" y="365126"/>
            <a:ext cx="80804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Requirement 1: Temporal </a:t>
            </a:r>
            <a:r>
              <a:rPr lang="en-US" dirty="0" err="1" smtClean="0"/>
              <a:t>Acyclicity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05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Temporal </a:t>
            </a:r>
            <a:r>
              <a:rPr lang="en-US" dirty="0" err="1" smtClean="0"/>
              <a:t>Acyclicity</a:t>
            </a:r>
            <a:endParaRPr lang="en-US" dirty="0"/>
          </a:p>
        </p:txBody>
      </p:sp>
      <p:cxnSp>
        <p:nvCxnSpPr>
          <p:cNvPr id="4" name="Straight Arrow Connector 3"/>
          <p:cNvCxnSpPr>
            <a:endCxn id="8" idx="0"/>
          </p:cNvCxnSpPr>
          <p:nvPr/>
        </p:nvCxnSpPr>
        <p:spPr>
          <a:xfrm flipH="1">
            <a:off x="4442088" y="2342945"/>
            <a:ext cx="797601" cy="47485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3632963" y="3490267"/>
            <a:ext cx="666499" cy="45132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193998" y="3927722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sp>
        <p:nvSpPr>
          <p:cNvPr id="7" name="Oval 6"/>
          <p:cNvSpPr/>
          <p:nvPr/>
        </p:nvSpPr>
        <p:spPr>
          <a:xfrm>
            <a:off x="5219088" y="2202280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4301423" y="281780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cxnSp>
        <p:nvCxnSpPr>
          <p:cNvPr id="9" name="Straight Arrow Connector 8"/>
          <p:cNvCxnSpPr>
            <a:endCxn id="10" idx="0"/>
          </p:cNvCxnSpPr>
          <p:nvPr/>
        </p:nvCxnSpPr>
        <p:spPr>
          <a:xfrm flipH="1">
            <a:off x="3516462" y="2901136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75797" y="3418127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2</a:t>
            </a:r>
            <a:endParaRPr lang="en-US" sz="23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103143" y="1825953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27223" y="3951615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1</a:t>
            </a:r>
            <a:endParaRPr lang="en-US" sz="2300" dirty="0"/>
          </a:p>
        </p:txBody>
      </p:sp>
      <p:cxnSp>
        <p:nvCxnSpPr>
          <p:cNvPr id="13" name="Straight Arrow Connector 12"/>
          <p:cNvCxnSpPr>
            <a:endCxn id="12" idx="0"/>
          </p:cNvCxnSpPr>
          <p:nvPr/>
        </p:nvCxnSpPr>
        <p:spPr>
          <a:xfrm flipH="1">
            <a:off x="2667888" y="3476394"/>
            <a:ext cx="731028" cy="475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287358" y="2869182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8</a:t>
            </a:r>
          </a:p>
        </p:txBody>
      </p:sp>
      <p:cxnSp>
        <p:nvCxnSpPr>
          <p:cNvPr id="15" name="Straight Arrow Connector 14"/>
          <p:cNvCxnSpPr>
            <a:endCxn id="14" idx="0"/>
          </p:cNvCxnSpPr>
          <p:nvPr/>
        </p:nvCxnSpPr>
        <p:spPr>
          <a:xfrm>
            <a:off x="5500417" y="2312002"/>
            <a:ext cx="927606" cy="557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3520486" y="2258023"/>
            <a:ext cx="1713297" cy="1174282"/>
          </a:xfrm>
          <a:custGeom>
            <a:avLst/>
            <a:gdLst>
              <a:gd name="connsiteX0" fmla="*/ 1713297 w 1713297"/>
              <a:gd name="connsiteY0" fmla="*/ 0 h 1174282"/>
              <a:gd name="connsiteX1" fmla="*/ 567891 w 1713297"/>
              <a:gd name="connsiteY1" fmla="*/ 298383 h 1174282"/>
              <a:gd name="connsiteX2" fmla="*/ 0 w 1713297"/>
              <a:gd name="connsiteY2" fmla="*/ 1174282 h 117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13297" h="1174282">
                <a:moveTo>
                  <a:pt x="1713297" y="0"/>
                </a:moveTo>
                <a:cubicBezTo>
                  <a:pt x="1283368" y="51334"/>
                  <a:pt x="853440" y="102669"/>
                  <a:pt x="567891" y="298383"/>
                </a:cubicBezTo>
                <a:cubicBezTo>
                  <a:pt x="282341" y="494097"/>
                  <a:pt x="80210" y="1070009"/>
                  <a:pt x="0" y="1174282"/>
                </a:cubicBezTo>
              </a:path>
            </a:pathLst>
          </a:custGeom>
          <a:noFill/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47849" y="2005796"/>
            <a:ext cx="124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remove(4)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74666" y="3406059"/>
            <a:ext cx="1262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r</a:t>
            </a:r>
            <a:r>
              <a:rPr lang="en-US" dirty="0" smtClean="0">
                <a:solidFill>
                  <a:srgbClr val="00B050"/>
                </a:solidFill>
              </a:rPr>
              <a:t>emove(3)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582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 2: Preservation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514323" cy="15720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Writes do not destroy search paths to locations to which there </a:t>
            </a:r>
            <a:r>
              <a:rPr lang="en-US" dirty="0" smtClean="0"/>
              <a:t>could be later writes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7022429" y="3488752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300" dirty="0"/>
          </a:p>
        </p:txBody>
      </p:sp>
      <p:sp>
        <p:nvSpPr>
          <p:cNvPr id="16" name="Oval 15"/>
          <p:cNvSpPr/>
          <p:nvPr/>
        </p:nvSpPr>
        <p:spPr>
          <a:xfrm>
            <a:off x="6104764" y="4104275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179138" y="4704599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300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6845778" y="3109029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436304" y="4776739"/>
            <a:ext cx="666499" cy="45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997339" y="5214194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5319803" y="4187608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6243626" y="3578628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loud 42"/>
          <p:cNvSpPr/>
          <p:nvPr/>
        </p:nvSpPr>
        <p:spPr>
          <a:xfrm>
            <a:off x="5467907" y="3532654"/>
            <a:ext cx="1493258" cy="1309908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loud 44"/>
          <p:cNvSpPr/>
          <p:nvPr/>
        </p:nvSpPr>
        <p:spPr>
          <a:xfrm>
            <a:off x="5361572" y="4893107"/>
            <a:ext cx="1493258" cy="1309908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 50"/>
          <p:cNvSpPr/>
          <p:nvPr/>
        </p:nvSpPr>
        <p:spPr>
          <a:xfrm>
            <a:off x="5284414" y="3147348"/>
            <a:ext cx="1714095" cy="1444973"/>
          </a:xfrm>
          <a:custGeom>
            <a:avLst/>
            <a:gdLst>
              <a:gd name="connsiteX0" fmla="*/ 1434165 w 1713184"/>
              <a:gd name="connsiteY0" fmla="*/ 0 h 1395663"/>
              <a:gd name="connsiteX1" fmla="*/ 1655546 w 1713184"/>
              <a:gd name="connsiteY1" fmla="*/ 336884 h 1395663"/>
              <a:gd name="connsiteX2" fmla="*/ 500514 w 1713184"/>
              <a:gd name="connsiteY2" fmla="*/ 317633 h 1395663"/>
              <a:gd name="connsiteX3" fmla="*/ 0 w 1713184"/>
              <a:gd name="connsiteY3" fmla="*/ 1395663 h 1395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3184" h="1395663">
                <a:moveTo>
                  <a:pt x="1434165" y="0"/>
                </a:moveTo>
                <a:cubicBezTo>
                  <a:pt x="1622660" y="141972"/>
                  <a:pt x="1811155" y="283945"/>
                  <a:pt x="1655546" y="336884"/>
                </a:cubicBezTo>
                <a:cubicBezTo>
                  <a:pt x="1499938" y="389823"/>
                  <a:pt x="776438" y="141170"/>
                  <a:pt x="500514" y="317633"/>
                </a:cubicBezTo>
                <a:cubicBezTo>
                  <a:pt x="224590" y="494096"/>
                  <a:pt x="112295" y="944879"/>
                  <a:pt x="0" y="1395663"/>
                </a:cubicBezTo>
              </a:path>
            </a:pathLst>
          </a:custGeom>
          <a:noFill/>
          <a:ln w="28575">
            <a:solidFill>
              <a:srgbClr val="7030A0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2229" y="3435041"/>
            <a:ext cx="2032185" cy="418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871469" y="4766284"/>
                <a:ext cx="14129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469" y="4766284"/>
                <a:ext cx="1412945" cy="461665"/>
              </a:xfrm>
              <a:prstGeom prst="rect">
                <a:avLst/>
              </a:prstGeom>
              <a:blipFill>
                <a:blip r:embed="rId3"/>
                <a:stretch>
                  <a:fillRect r="-172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271239" y="5622389"/>
                <a:ext cx="3599133" cy="46166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the location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 smtClean="0"/>
                  <a:t> will modify</a:t>
                </a:r>
                <a:endParaRPr lang="en-US" sz="2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239" y="5622389"/>
                <a:ext cx="3599133" cy="461665"/>
              </a:xfrm>
              <a:prstGeom prst="rect">
                <a:avLst/>
              </a:prstGeom>
              <a:blipFill>
                <a:blip r:embed="rId4"/>
                <a:stretch>
                  <a:fillRect l="-2534" t="-8974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/>
          <p:cNvCxnSpPr>
            <a:stCxn id="32" idx="0"/>
          </p:cNvCxnSpPr>
          <p:nvPr/>
        </p:nvCxnSpPr>
        <p:spPr>
          <a:xfrm flipV="1">
            <a:off x="3070806" y="5207277"/>
            <a:ext cx="1300353" cy="415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828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 2: Preservation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7022434" y="3488626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300" dirty="0"/>
          </a:p>
        </p:txBody>
      </p:sp>
      <p:sp>
        <p:nvSpPr>
          <p:cNvPr id="16" name="Oval 15"/>
          <p:cNvSpPr/>
          <p:nvPr/>
        </p:nvSpPr>
        <p:spPr>
          <a:xfrm>
            <a:off x="6104769" y="4104149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179143" y="4704473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300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6845783" y="3108903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436309" y="4776613"/>
            <a:ext cx="666499" cy="45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997344" y="5214068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5319808" y="4187482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6243631" y="3578502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loud 42"/>
          <p:cNvSpPr/>
          <p:nvPr/>
        </p:nvSpPr>
        <p:spPr>
          <a:xfrm>
            <a:off x="5467912" y="3532528"/>
            <a:ext cx="1493258" cy="1309908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loud 44"/>
          <p:cNvSpPr/>
          <p:nvPr/>
        </p:nvSpPr>
        <p:spPr>
          <a:xfrm>
            <a:off x="5361577" y="4892981"/>
            <a:ext cx="1493258" cy="1309908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24"/>
          <p:cNvGrpSpPr>
            <a:grpSpLocks/>
          </p:cNvGrpSpPr>
          <p:nvPr/>
        </p:nvGrpSpPr>
        <p:grpSpPr bwMode="auto">
          <a:xfrm rot="-277548">
            <a:off x="5645958" y="3758857"/>
            <a:ext cx="558488" cy="369500"/>
            <a:chOff x="3168" y="1824"/>
            <a:chExt cx="912" cy="816"/>
          </a:xfrm>
        </p:grpSpPr>
        <p:sp>
          <p:nvSpPr>
            <p:cNvPr id="20" name="Freeform 25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26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Freeform 27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3 h 336"/>
                <a:gd name="T2" fmla="*/ 96 w 144"/>
                <a:gd name="T3" fmla="*/ 0 h 336"/>
                <a:gd name="T4" fmla="*/ 144 w 144"/>
                <a:gd name="T5" fmla="*/ 3 h 336"/>
                <a:gd name="T6" fmla="*/ 144 w 144"/>
                <a:gd name="T7" fmla="*/ 3 h 336"/>
                <a:gd name="T8" fmla="*/ 96 w 144"/>
                <a:gd name="T9" fmla="*/ 3 h 336"/>
                <a:gd name="T10" fmla="*/ 96 w 144"/>
                <a:gd name="T11" fmla="*/ 3 h 336"/>
                <a:gd name="T12" fmla="*/ 0 w 144"/>
                <a:gd name="T13" fmla="*/ 3 h 336"/>
                <a:gd name="T14" fmla="*/ 0 w 144"/>
                <a:gd name="T15" fmla="*/ 3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Freeform 28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Freeform 29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Freeform 30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Freeform 31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2 h 432"/>
                <a:gd name="T4" fmla="*/ 1 w 336"/>
                <a:gd name="T5" fmla="*/ 2 h 432"/>
                <a:gd name="T6" fmla="*/ 1 w 336"/>
                <a:gd name="T7" fmla="*/ 2 h 432"/>
                <a:gd name="T8" fmla="*/ 0 w 336"/>
                <a:gd name="T9" fmla="*/ 2 h 432"/>
                <a:gd name="T10" fmla="*/ 0 w 336"/>
                <a:gd name="T11" fmla="*/ 2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Freeform 32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33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4" name="Group 24"/>
          <p:cNvGrpSpPr>
            <a:grpSpLocks/>
          </p:cNvGrpSpPr>
          <p:nvPr/>
        </p:nvGrpSpPr>
        <p:grpSpPr bwMode="auto">
          <a:xfrm rot="-277548">
            <a:off x="6288416" y="4007504"/>
            <a:ext cx="558488" cy="369500"/>
            <a:chOff x="3168" y="1824"/>
            <a:chExt cx="912" cy="816"/>
          </a:xfrm>
        </p:grpSpPr>
        <p:sp>
          <p:nvSpPr>
            <p:cNvPr id="47" name="Freeform 25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26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Freeform 27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3 h 336"/>
                <a:gd name="T2" fmla="*/ 96 w 144"/>
                <a:gd name="T3" fmla="*/ 0 h 336"/>
                <a:gd name="T4" fmla="*/ 144 w 144"/>
                <a:gd name="T5" fmla="*/ 3 h 336"/>
                <a:gd name="T6" fmla="*/ 144 w 144"/>
                <a:gd name="T7" fmla="*/ 3 h 336"/>
                <a:gd name="T8" fmla="*/ 96 w 144"/>
                <a:gd name="T9" fmla="*/ 3 h 336"/>
                <a:gd name="T10" fmla="*/ 96 w 144"/>
                <a:gd name="T11" fmla="*/ 3 h 336"/>
                <a:gd name="T12" fmla="*/ 0 w 144"/>
                <a:gd name="T13" fmla="*/ 3 h 336"/>
                <a:gd name="T14" fmla="*/ 0 w 144"/>
                <a:gd name="T15" fmla="*/ 3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Freeform 28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Freeform 29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Freeform 30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Freeform 31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2 h 432"/>
                <a:gd name="T4" fmla="*/ 1 w 336"/>
                <a:gd name="T5" fmla="*/ 2 h 432"/>
                <a:gd name="T6" fmla="*/ 1 w 336"/>
                <a:gd name="T7" fmla="*/ 2 h 432"/>
                <a:gd name="T8" fmla="*/ 0 w 336"/>
                <a:gd name="T9" fmla="*/ 2 h 432"/>
                <a:gd name="T10" fmla="*/ 0 w 336"/>
                <a:gd name="T11" fmla="*/ 2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Freeform 32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Freeform 33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6" name="Group 24"/>
          <p:cNvGrpSpPr>
            <a:grpSpLocks/>
          </p:cNvGrpSpPr>
          <p:nvPr/>
        </p:nvGrpSpPr>
        <p:grpSpPr bwMode="auto">
          <a:xfrm rot="-277548">
            <a:off x="5654722" y="4225502"/>
            <a:ext cx="558488" cy="369500"/>
            <a:chOff x="3168" y="1824"/>
            <a:chExt cx="912" cy="816"/>
          </a:xfrm>
        </p:grpSpPr>
        <p:sp>
          <p:nvSpPr>
            <p:cNvPr id="57" name="Freeform 25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Freeform 26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Freeform 27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3 h 336"/>
                <a:gd name="T2" fmla="*/ 96 w 144"/>
                <a:gd name="T3" fmla="*/ 0 h 336"/>
                <a:gd name="T4" fmla="*/ 144 w 144"/>
                <a:gd name="T5" fmla="*/ 3 h 336"/>
                <a:gd name="T6" fmla="*/ 144 w 144"/>
                <a:gd name="T7" fmla="*/ 3 h 336"/>
                <a:gd name="T8" fmla="*/ 96 w 144"/>
                <a:gd name="T9" fmla="*/ 3 h 336"/>
                <a:gd name="T10" fmla="*/ 96 w 144"/>
                <a:gd name="T11" fmla="*/ 3 h 336"/>
                <a:gd name="T12" fmla="*/ 0 w 144"/>
                <a:gd name="T13" fmla="*/ 3 h 336"/>
                <a:gd name="T14" fmla="*/ 0 w 144"/>
                <a:gd name="T15" fmla="*/ 3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Freeform 28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Freeform 29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Freeform 30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Freeform 31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2 h 432"/>
                <a:gd name="T4" fmla="*/ 1 w 336"/>
                <a:gd name="T5" fmla="*/ 2 h 432"/>
                <a:gd name="T6" fmla="*/ 1 w 336"/>
                <a:gd name="T7" fmla="*/ 2 h 432"/>
                <a:gd name="T8" fmla="*/ 0 w 336"/>
                <a:gd name="T9" fmla="*/ 2 h 432"/>
                <a:gd name="T10" fmla="*/ 0 w 336"/>
                <a:gd name="T11" fmla="*/ 2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Freeform 32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Freeform 33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6" name="Group 24"/>
          <p:cNvGrpSpPr>
            <a:grpSpLocks/>
          </p:cNvGrpSpPr>
          <p:nvPr/>
        </p:nvGrpSpPr>
        <p:grpSpPr bwMode="auto">
          <a:xfrm rot="-277548">
            <a:off x="6195687" y="3624127"/>
            <a:ext cx="558488" cy="369500"/>
            <a:chOff x="3168" y="1824"/>
            <a:chExt cx="912" cy="816"/>
          </a:xfrm>
        </p:grpSpPr>
        <p:sp>
          <p:nvSpPr>
            <p:cNvPr id="67" name="Freeform 25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Freeform 26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Freeform 27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3 h 336"/>
                <a:gd name="T2" fmla="*/ 96 w 144"/>
                <a:gd name="T3" fmla="*/ 0 h 336"/>
                <a:gd name="T4" fmla="*/ 144 w 144"/>
                <a:gd name="T5" fmla="*/ 3 h 336"/>
                <a:gd name="T6" fmla="*/ 144 w 144"/>
                <a:gd name="T7" fmla="*/ 3 h 336"/>
                <a:gd name="T8" fmla="*/ 96 w 144"/>
                <a:gd name="T9" fmla="*/ 3 h 336"/>
                <a:gd name="T10" fmla="*/ 96 w 144"/>
                <a:gd name="T11" fmla="*/ 3 h 336"/>
                <a:gd name="T12" fmla="*/ 0 w 144"/>
                <a:gd name="T13" fmla="*/ 3 h 336"/>
                <a:gd name="T14" fmla="*/ 0 w 144"/>
                <a:gd name="T15" fmla="*/ 3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Freeform 28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Freeform 29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Freeform 30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Freeform 31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2 h 432"/>
                <a:gd name="T4" fmla="*/ 1 w 336"/>
                <a:gd name="T5" fmla="*/ 2 h 432"/>
                <a:gd name="T6" fmla="*/ 1 w 336"/>
                <a:gd name="T7" fmla="*/ 2 h 432"/>
                <a:gd name="T8" fmla="*/ 0 w 336"/>
                <a:gd name="T9" fmla="*/ 2 h 432"/>
                <a:gd name="T10" fmla="*/ 0 w 336"/>
                <a:gd name="T11" fmla="*/ 2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Freeform 32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Freeform 33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8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514323" cy="15720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Writes do not destroy search paths to locations to which there </a:t>
            </a:r>
            <a:r>
              <a:rPr lang="en-US" dirty="0" smtClean="0"/>
              <a:t>could be later writes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3871469" y="4766284"/>
                <a:ext cx="14129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469" y="4766284"/>
                <a:ext cx="1412945" cy="461665"/>
              </a:xfrm>
              <a:prstGeom prst="rect">
                <a:avLst/>
              </a:prstGeom>
              <a:blipFill>
                <a:blip r:embed="rId6"/>
                <a:stretch>
                  <a:fillRect r="-172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1271239" y="5622389"/>
                <a:ext cx="3599133" cy="46166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the location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 smtClean="0"/>
                  <a:t> will modify</a:t>
                </a:r>
                <a:endParaRPr lang="en-US" sz="2400" dirty="0"/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239" y="5622389"/>
                <a:ext cx="3599133" cy="461665"/>
              </a:xfrm>
              <a:prstGeom prst="rect">
                <a:avLst/>
              </a:prstGeom>
              <a:blipFill>
                <a:blip r:embed="rId7"/>
                <a:stretch>
                  <a:fillRect l="-2534" t="-8974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Straight Arrow Connector 121"/>
          <p:cNvCxnSpPr>
            <a:stCxn id="121" idx="0"/>
          </p:cNvCxnSpPr>
          <p:nvPr/>
        </p:nvCxnSpPr>
        <p:spPr>
          <a:xfrm flipV="1">
            <a:off x="3070806" y="5207277"/>
            <a:ext cx="1300353" cy="415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66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 2: Preservation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7022429" y="3488634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300" dirty="0"/>
          </a:p>
        </p:txBody>
      </p:sp>
      <p:sp>
        <p:nvSpPr>
          <p:cNvPr id="16" name="Oval 15"/>
          <p:cNvSpPr/>
          <p:nvPr/>
        </p:nvSpPr>
        <p:spPr>
          <a:xfrm>
            <a:off x="6104764" y="4104157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179138" y="4704481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300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6845778" y="3108911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436304" y="4776621"/>
            <a:ext cx="666499" cy="45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997339" y="5214076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5319803" y="4187490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6243626" y="3578510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loud 42"/>
          <p:cNvSpPr/>
          <p:nvPr/>
        </p:nvSpPr>
        <p:spPr>
          <a:xfrm>
            <a:off x="5467907" y="3532536"/>
            <a:ext cx="1493258" cy="1309908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loud 44"/>
          <p:cNvSpPr/>
          <p:nvPr/>
        </p:nvSpPr>
        <p:spPr>
          <a:xfrm>
            <a:off x="5361572" y="4892989"/>
            <a:ext cx="1493258" cy="1309908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033079" y="3672991"/>
                <a:ext cx="14129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79" y="3672991"/>
                <a:ext cx="1412945" cy="461665"/>
              </a:xfrm>
              <a:prstGeom prst="rect">
                <a:avLst/>
              </a:prstGeom>
              <a:blipFill>
                <a:blip r:embed="rId6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/>
          <p:cNvSpPr/>
          <p:nvPr/>
        </p:nvSpPr>
        <p:spPr>
          <a:xfrm>
            <a:off x="5501705" y="3036633"/>
            <a:ext cx="2212905" cy="1685365"/>
          </a:xfrm>
          <a:custGeom>
            <a:avLst/>
            <a:gdLst>
              <a:gd name="connsiteX0" fmla="*/ 1550894 w 2212905"/>
              <a:gd name="connsiteY0" fmla="*/ 0 h 1685365"/>
              <a:gd name="connsiteX1" fmla="*/ 2133600 w 2212905"/>
              <a:gd name="connsiteY1" fmla="*/ 753036 h 1685365"/>
              <a:gd name="connsiteX2" fmla="*/ 0 w 2212905"/>
              <a:gd name="connsiteY2" fmla="*/ 1685365 h 1685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12905" h="1685365">
                <a:moveTo>
                  <a:pt x="1550894" y="0"/>
                </a:moveTo>
                <a:cubicBezTo>
                  <a:pt x="1971488" y="236071"/>
                  <a:pt x="2392082" y="472142"/>
                  <a:pt x="2133600" y="753036"/>
                </a:cubicBezTo>
                <a:cubicBezTo>
                  <a:pt x="1875118" y="1033930"/>
                  <a:pt x="937559" y="1359647"/>
                  <a:pt x="0" y="1685365"/>
                </a:cubicBezTo>
              </a:path>
            </a:pathLst>
          </a:custGeom>
          <a:noFill/>
          <a:ln w="28575">
            <a:solidFill>
              <a:srgbClr val="7030A0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548" y="4182024"/>
            <a:ext cx="2032185" cy="418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0" name="Group 24"/>
          <p:cNvGrpSpPr>
            <a:grpSpLocks/>
          </p:cNvGrpSpPr>
          <p:nvPr/>
        </p:nvGrpSpPr>
        <p:grpSpPr bwMode="auto">
          <a:xfrm rot="-277548">
            <a:off x="4343420" y="4131866"/>
            <a:ext cx="929513" cy="686021"/>
            <a:chOff x="3168" y="1824"/>
            <a:chExt cx="912" cy="816"/>
          </a:xfrm>
        </p:grpSpPr>
        <p:sp>
          <p:nvSpPr>
            <p:cNvPr id="21" name="Freeform 25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Freeform 27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3 h 336"/>
                <a:gd name="T2" fmla="*/ 96 w 144"/>
                <a:gd name="T3" fmla="*/ 0 h 336"/>
                <a:gd name="T4" fmla="*/ 144 w 144"/>
                <a:gd name="T5" fmla="*/ 3 h 336"/>
                <a:gd name="T6" fmla="*/ 144 w 144"/>
                <a:gd name="T7" fmla="*/ 3 h 336"/>
                <a:gd name="T8" fmla="*/ 96 w 144"/>
                <a:gd name="T9" fmla="*/ 3 h 336"/>
                <a:gd name="T10" fmla="*/ 96 w 144"/>
                <a:gd name="T11" fmla="*/ 3 h 336"/>
                <a:gd name="T12" fmla="*/ 0 w 144"/>
                <a:gd name="T13" fmla="*/ 3 h 336"/>
                <a:gd name="T14" fmla="*/ 0 w 144"/>
                <a:gd name="T15" fmla="*/ 3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Freeform 28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Freeform 29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Freeform 30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Freeform 31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2 h 432"/>
                <a:gd name="T4" fmla="*/ 1 w 336"/>
                <a:gd name="T5" fmla="*/ 2 h 432"/>
                <a:gd name="T6" fmla="*/ 1 w 336"/>
                <a:gd name="T7" fmla="*/ 2 h 432"/>
                <a:gd name="T8" fmla="*/ 0 w 336"/>
                <a:gd name="T9" fmla="*/ 2 h 432"/>
                <a:gd name="T10" fmla="*/ 0 w 336"/>
                <a:gd name="T11" fmla="*/ 2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32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Freeform 33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871469" y="4766284"/>
                <a:ext cx="14129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469" y="4766284"/>
                <a:ext cx="1412945" cy="461665"/>
              </a:xfrm>
              <a:prstGeom prst="rect">
                <a:avLst/>
              </a:prstGeom>
              <a:blipFill>
                <a:blip r:embed="rId9"/>
                <a:stretch>
                  <a:fillRect r="-172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514323" cy="15720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Writes do not destroy search paths to locations to which there </a:t>
            </a:r>
            <a:r>
              <a:rPr lang="en-US" dirty="0" smtClean="0"/>
              <a:t>could be later writes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6465802" y="2611671"/>
            <a:ext cx="2226238" cy="535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u="sng" dirty="0" smtClean="0"/>
              <a:t>Required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71239" y="5622389"/>
                <a:ext cx="3599133" cy="46166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the location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 smtClean="0"/>
                  <a:t> will modify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239" y="5622389"/>
                <a:ext cx="3599133" cy="461665"/>
              </a:xfrm>
              <a:prstGeom prst="rect">
                <a:avLst/>
              </a:prstGeom>
              <a:blipFill>
                <a:blip r:embed="rId10"/>
                <a:stretch>
                  <a:fillRect l="-2534" t="-8974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</p:cNvCxnSpPr>
          <p:nvPr/>
        </p:nvCxnSpPr>
        <p:spPr>
          <a:xfrm flipV="1">
            <a:off x="3070806" y="5207277"/>
            <a:ext cx="1300353" cy="415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909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" grpId="0" animBg="1"/>
      <p:bldP spid="37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 2: Preservation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7022429" y="3488634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300" dirty="0"/>
          </a:p>
        </p:txBody>
      </p:sp>
      <p:sp>
        <p:nvSpPr>
          <p:cNvPr id="16" name="Oval 15"/>
          <p:cNvSpPr/>
          <p:nvPr/>
        </p:nvSpPr>
        <p:spPr>
          <a:xfrm>
            <a:off x="6104764" y="4104157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179138" y="4704481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300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6845778" y="3108911"/>
            <a:ext cx="267997" cy="38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436304" y="4776621"/>
            <a:ext cx="666499" cy="451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997339" y="5214076"/>
            <a:ext cx="281329" cy="281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300" dirty="0" smtClean="0"/>
              <a:t>3</a:t>
            </a:r>
            <a:endParaRPr lang="en-US" sz="2300" dirty="0"/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5319803" y="4187490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6243626" y="3578510"/>
            <a:ext cx="818201" cy="516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loud 42"/>
          <p:cNvSpPr/>
          <p:nvPr/>
        </p:nvSpPr>
        <p:spPr>
          <a:xfrm>
            <a:off x="5467907" y="3532536"/>
            <a:ext cx="1493258" cy="1309908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loud 44"/>
          <p:cNvSpPr/>
          <p:nvPr/>
        </p:nvSpPr>
        <p:spPr>
          <a:xfrm>
            <a:off x="5361572" y="4892989"/>
            <a:ext cx="1493258" cy="1309908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033079" y="3672991"/>
                <a:ext cx="14129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79" y="3672991"/>
                <a:ext cx="1412945" cy="461665"/>
              </a:xfrm>
              <a:prstGeom prst="rect">
                <a:avLst/>
              </a:prstGeom>
              <a:blipFill>
                <a:blip r:embed="rId6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/>
          <p:cNvSpPr/>
          <p:nvPr/>
        </p:nvSpPr>
        <p:spPr>
          <a:xfrm>
            <a:off x="5501705" y="3036633"/>
            <a:ext cx="2212905" cy="1685365"/>
          </a:xfrm>
          <a:custGeom>
            <a:avLst/>
            <a:gdLst>
              <a:gd name="connsiteX0" fmla="*/ 1550894 w 2212905"/>
              <a:gd name="connsiteY0" fmla="*/ 0 h 1685365"/>
              <a:gd name="connsiteX1" fmla="*/ 2133600 w 2212905"/>
              <a:gd name="connsiteY1" fmla="*/ 753036 h 1685365"/>
              <a:gd name="connsiteX2" fmla="*/ 0 w 2212905"/>
              <a:gd name="connsiteY2" fmla="*/ 1685365 h 1685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12905" h="1685365">
                <a:moveTo>
                  <a:pt x="1550894" y="0"/>
                </a:moveTo>
                <a:cubicBezTo>
                  <a:pt x="1971488" y="236071"/>
                  <a:pt x="2392082" y="472142"/>
                  <a:pt x="2133600" y="753036"/>
                </a:cubicBezTo>
                <a:cubicBezTo>
                  <a:pt x="1875118" y="1033930"/>
                  <a:pt x="937559" y="1359647"/>
                  <a:pt x="0" y="1685365"/>
                </a:cubicBezTo>
              </a:path>
            </a:pathLst>
          </a:custGeom>
          <a:noFill/>
          <a:ln w="28575">
            <a:solidFill>
              <a:srgbClr val="7030A0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548" y="4182024"/>
            <a:ext cx="2032185" cy="418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0" name="Group 24"/>
          <p:cNvGrpSpPr>
            <a:grpSpLocks/>
          </p:cNvGrpSpPr>
          <p:nvPr/>
        </p:nvGrpSpPr>
        <p:grpSpPr bwMode="auto">
          <a:xfrm rot="-277548">
            <a:off x="4343420" y="4131866"/>
            <a:ext cx="929513" cy="686021"/>
            <a:chOff x="3168" y="1824"/>
            <a:chExt cx="912" cy="816"/>
          </a:xfrm>
        </p:grpSpPr>
        <p:sp>
          <p:nvSpPr>
            <p:cNvPr id="21" name="Freeform 25"/>
            <p:cNvSpPr>
              <a:spLocks/>
            </p:cNvSpPr>
            <p:nvPr/>
          </p:nvSpPr>
          <p:spPr bwMode="auto">
            <a:xfrm>
              <a:off x="3936" y="2064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auto">
            <a:xfrm>
              <a:off x="3728" y="1920"/>
              <a:ext cx="144" cy="336"/>
            </a:xfrm>
            <a:custGeom>
              <a:avLst/>
              <a:gdLst>
                <a:gd name="T0" fmla="*/ 0 w 144"/>
                <a:gd name="T1" fmla="*/ 48 h 336"/>
                <a:gd name="T2" fmla="*/ 96 w 144"/>
                <a:gd name="T3" fmla="*/ 0 h 336"/>
                <a:gd name="T4" fmla="*/ 144 w 144"/>
                <a:gd name="T5" fmla="*/ 48 h 336"/>
                <a:gd name="T6" fmla="*/ 144 w 144"/>
                <a:gd name="T7" fmla="*/ 336 h 336"/>
                <a:gd name="T8" fmla="*/ 96 w 144"/>
                <a:gd name="T9" fmla="*/ 288 h 336"/>
                <a:gd name="T10" fmla="*/ 96 w 144"/>
                <a:gd name="T11" fmla="*/ 96 h 336"/>
                <a:gd name="T12" fmla="*/ 0 w 144"/>
                <a:gd name="T13" fmla="*/ 144 h 336"/>
                <a:gd name="T14" fmla="*/ 0 w 144"/>
                <a:gd name="T15" fmla="*/ 48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Freeform 27"/>
            <p:cNvSpPr>
              <a:spLocks/>
            </p:cNvSpPr>
            <p:nvPr/>
          </p:nvSpPr>
          <p:spPr bwMode="auto">
            <a:xfrm>
              <a:off x="3504" y="1824"/>
              <a:ext cx="144" cy="288"/>
            </a:xfrm>
            <a:custGeom>
              <a:avLst/>
              <a:gdLst>
                <a:gd name="T0" fmla="*/ 0 w 144"/>
                <a:gd name="T1" fmla="*/ 3 h 336"/>
                <a:gd name="T2" fmla="*/ 96 w 144"/>
                <a:gd name="T3" fmla="*/ 0 h 336"/>
                <a:gd name="T4" fmla="*/ 144 w 144"/>
                <a:gd name="T5" fmla="*/ 3 h 336"/>
                <a:gd name="T6" fmla="*/ 144 w 144"/>
                <a:gd name="T7" fmla="*/ 3 h 336"/>
                <a:gd name="T8" fmla="*/ 96 w 144"/>
                <a:gd name="T9" fmla="*/ 3 h 336"/>
                <a:gd name="T10" fmla="*/ 96 w 144"/>
                <a:gd name="T11" fmla="*/ 3 h 336"/>
                <a:gd name="T12" fmla="*/ 0 w 144"/>
                <a:gd name="T13" fmla="*/ 3 h 336"/>
                <a:gd name="T14" fmla="*/ 0 w 144"/>
                <a:gd name="T15" fmla="*/ 3 h 3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"/>
                <a:gd name="T25" fmla="*/ 0 h 336"/>
                <a:gd name="T26" fmla="*/ 144 w 144"/>
                <a:gd name="T27" fmla="*/ 336 h 3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" h="336">
                  <a:moveTo>
                    <a:pt x="0" y="48"/>
                  </a:moveTo>
                  <a:lnTo>
                    <a:pt x="96" y="0"/>
                  </a:lnTo>
                  <a:lnTo>
                    <a:pt x="144" y="48"/>
                  </a:lnTo>
                  <a:lnTo>
                    <a:pt x="144" y="336"/>
                  </a:lnTo>
                  <a:lnTo>
                    <a:pt x="96" y="288"/>
                  </a:lnTo>
                  <a:lnTo>
                    <a:pt x="96" y="96"/>
                  </a:lnTo>
                  <a:lnTo>
                    <a:pt x="0" y="144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Freeform 28"/>
            <p:cNvSpPr>
              <a:spLocks/>
            </p:cNvSpPr>
            <p:nvPr/>
          </p:nvSpPr>
          <p:spPr bwMode="auto">
            <a:xfrm>
              <a:off x="3243" y="1824"/>
              <a:ext cx="789" cy="535"/>
            </a:xfrm>
            <a:custGeom>
              <a:avLst/>
              <a:gdLst>
                <a:gd name="T0" fmla="*/ 261 w 789"/>
                <a:gd name="T1" fmla="*/ 0 h 535"/>
                <a:gd name="T2" fmla="*/ 789 w 789"/>
                <a:gd name="T3" fmla="*/ 336 h 535"/>
                <a:gd name="T4" fmla="*/ 494 w 789"/>
                <a:gd name="T5" fmla="*/ 535 h 535"/>
                <a:gd name="T6" fmla="*/ 0 w 789"/>
                <a:gd name="T7" fmla="*/ 96 h 535"/>
                <a:gd name="T8" fmla="*/ 261 w 789"/>
                <a:gd name="T9" fmla="*/ 0 h 5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535"/>
                <a:gd name="T17" fmla="*/ 789 w 789"/>
                <a:gd name="T18" fmla="*/ 535 h 5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535">
                  <a:moveTo>
                    <a:pt x="261" y="0"/>
                  </a:moveTo>
                  <a:lnTo>
                    <a:pt x="789" y="336"/>
                  </a:lnTo>
                  <a:lnTo>
                    <a:pt x="494" y="535"/>
                  </a:lnTo>
                  <a:lnTo>
                    <a:pt x="0" y="96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Freeform 29"/>
            <p:cNvSpPr>
              <a:spLocks/>
            </p:cNvSpPr>
            <p:nvPr/>
          </p:nvSpPr>
          <p:spPr bwMode="auto">
            <a:xfrm>
              <a:off x="3253" y="1920"/>
              <a:ext cx="491" cy="567"/>
            </a:xfrm>
            <a:custGeom>
              <a:avLst/>
              <a:gdLst>
                <a:gd name="T0" fmla="*/ 11 w 491"/>
                <a:gd name="T1" fmla="*/ 0 h 567"/>
                <a:gd name="T2" fmla="*/ 491 w 491"/>
                <a:gd name="T3" fmla="*/ 432 h 567"/>
                <a:gd name="T4" fmla="*/ 484 w 491"/>
                <a:gd name="T5" fmla="*/ 567 h 567"/>
                <a:gd name="T6" fmla="*/ 0 w 491"/>
                <a:gd name="T7" fmla="*/ 119 h 567"/>
                <a:gd name="T8" fmla="*/ 11 w 491"/>
                <a:gd name="T9" fmla="*/ 0 h 5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"/>
                <a:gd name="T16" fmla="*/ 0 h 567"/>
                <a:gd name="T17" fmla="*/ 491 w 491"/>
                <a:gd name="T18" fmla="*/ 567 h 5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" h="567">
                  <a:moveTo>
                    <a:pt x="11" y="0"/>
                  </a:moveTo>
                  <a:lnTo>
                    <a:pt x="491" y="432"/>
                  </a:lnTo>
                  <a:lnTo>
                    <a:pt x="484" y="567"/>
                  </a:lnTo>
                  <a:lnTo>
                    <a:pt x="0" y="119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Freeform 30"/>
            <p:cNvSpPr>
              <a:spLocks/>
            </p:cNvSpPr>
            <p:nvPr/>
          </p:nvSpPr>
          <p:spPr bwMode="auto">
            <a:xfrm>
              <a:off x="3728" y="2160"/>
              <a:ext cx="304" cy="327"/>
            </a:xfrm>
            <a:custGeom>
              <a:avLst/>
              <a:gdLst>
                <a:gd name="T0" fmla="*/ 304 w 304"/>
                <a:gd name="T1" fmla="*/ 0 h 327"/>
                <a:gd name="T2" fmla="*/ 304 w 304"/>
                <a:gd name="T3" fmla="*/ 96 h 327"/>
                <a:gd name="T4" fmla="*/ 0 w 304"/>
                <a:gd name="T5" fmla="*/ 327 h 327"/>
                <a:gd name="T6" fmla="*/ 18 w 304"/>
                <a:gd name="T7" fmla="*/ 181 h 327"/>
                <a:gd name="T8" fmla="*/ 304 w 304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327"/>
                <a:gd name="T17" fmla="*/ 304 w 304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327">
                  <a:moveTo>
                    <a:pt x="304" y="0"/>
                  </a:moveTo>
                  <a:lnTo>
                    <a:pt x="304" y="96"/>
                  </a:lnTo>
                  <a:lnTo>
                    <a:pt x="0" y="327"/>
                  </a:lnTo>
                  <a:lnTo>
                    <a:pt x="18" y="18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Freeform 31"/>
            <p:cNvSpPr>
              <a:spLocks/>
            </p:cNvSpPr>
            <p:nvPr/>
          </p:nvSpPr>
          <p:spPr bwMode="auto">
            <a:xfrm>
              <a:off x="3504" y="2304"/>
              <a:ext cx="240" cy="336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2 h 432"/>
                <a:gd name="T4" fmla="*/ 1 w 336"/>
                <a:gd name="T5" fmla="*/ 2 h 432"/>
                <a:gd name="T6" fmla="*/ 1 w 336"/>
                <a:gd name="T7" fmla="*/ 2 h 432"/>
                <a:gd name="T8" fmla="*/ 0 w 336"/>
                <a:gd name="T9" fmla="*/ 2 h 432"/>
                <a:gd name="T10" fmla="*/ 0 w 336"/>
                <a:gd name="T11" fmla="*/ 2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32"/>
            <p:cNvSpPr>
              <a:spLocks/>
            </p:cNvSpPr>
            <p:nvPr/>
          </p:nvSpPr>
          <p:spPr bwMode="auto">
            <a:xfrm>
              <a:off x="3312" y="2160"/>
              <a:ext cx="240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Freeform 33"/>
            <p:cNvSpPr>
              <a:spLocks/>
            </p:cNvSpPr>
            <p:nvPr/>
          </p:nvSpPr>
          <p:spPr bwMode="auto">
            <a:xfrm>
              <a:off x="3168" y="2016"/>
              <a:ext cx="192" cy="288"/>
            </a:xfrm>
            <a:custGeom>
              <a:avLst/>
              <a:gdLst>
                <a:gd name="T0" fmla="*/ 1 w 336"/>
                <a:gd name="T1" fmla="*/ 0 h 432"/>
                <a:gd name="T2" fmla="*/ 1 w 336"/>
                <a:gd name="T3" fmla="*/ 1 h 432"/>
                <a:gd name="T4" fmla="*/ 1 w 336"/>
                <a:gd name="T5" fmla="*/ 1 h 432"/>
                <a:gd name="T6" fmla="*/ 1 w 336"/>
                <a:gd name="T7" fmla="*/ 1 h 432"/>
                <a:gd name="T8" fmla="*/ 0 w 336"/>
                <a:gd name="T9" fmla="*/ 1 h 432"/>
                <a:gd name="T10" fmla="*/ 0 w 336"/>
                <a:gd name="T11" fmla="*/ 1 h 432"/>
                <a:gd name="T12" fmla="*/ 1 w 336"/>
                <a:gd name="T13" fmla="*/ 0 h 4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6"/>
                <a:gd name="T22" fmla="*/ 0 h 432"/>
                <a:gd name="T23" fmla="*/ 336 w 336"/>
                <a:gd name="T24" fmla="*/ 432 h 4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6" h="432">
                  <a:moveTo>
                    <a:pt x="192" y="0"/>
                  </a:moveTo>
                  <a:lnTo>
                    <a:pt x="336" y="96"/>
                  </a:lnTo>
                  <a:lnTo>
                    <a:pt x="96" y="144"/>
                  </a:lnTo>
                  <a:lnTo>
                    <a:pt x="96" y="432"/>
                  </a:lnTo>
                  <a:lnTo>
                    <a:pt x="0" y="336"/>
                  </a:lnTo>
                  <a:lnTo>
                    <a:pt x="0" y="48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871469" y="4766284"/>
                <a:ext cx="14129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469" y="4766284"/>
                <a:ext cx="1412945" cy="461665"/>
              </a:xfrm>
              <a:prstGeom prst="rect">
                <a:avLst/>
              </a:prstGeom>
              <a:blipFill>
                <a:blip r:embed="rId9"/>
                <a:stretch>
                  <a:fillRect r="-172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514323" cy="15720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Writes do not destroy search paths to locations to which there </a:t>
            </a:r>
            <a:r>
              <a:rPr lang="en-US" dirty="0" smtClean="0"/>
              <a:t>could be later writes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6465802" y="2611671"/>
            <a:ext cx="2226238" cy="535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u="sng" dirty="0" smtClean="0"/>
              <a:t>Required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71239" y="5622389"/>
                <a:ext cx="3599133" cy="46166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the location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 smtClean="0"/>
                  <a:t> will modify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239" y="5622389"/>
                <a:ext cx="3599133" cy="461665"/>
              </a:xfrm>
              <a:prstGeom prst="rect">
                <a:avLst/>
              </a:prstGeom>
              <a:blipFill>
                <a:blip r:embed="rId10"/>
                <a:stretch>
                  <a:fillRect l="-2534" t="-8974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6" idx="0"/>
          </p:cNvCxnSpPr>
          <p:nvPr/>
        </p:nvCxnSpPr>
        <p:spPr>
          <a:xfrm flipV="1">
            <a:off x="3070806" y="5207277"/>
            <a:ext cx="1300353" cy="415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01466" y="2696419"/>
            <a:ext cx="8686798" cy="3529781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491104" y="3102904"/>
            <a:ext cx="5990468" cy="1803760"/>
            <a:chOff x="704325" y="2046841"/>
            <a:chExt cx="8368670" cy="991730"/>
          </a:xfrm>
        </p:grpSpPr>
        <p:sp>
          <p:nvSpPr>
            <p:cNvPr id="38" name="Rectangle 37"/>
            <p:cNvSpPr/>
            <p:nvPr/>
          </p:nvSpPr>
          <p:spPr bwMode="auto">
            <a:xfrm>
              <a:off x="704325" y="2046841"/>
              <a:ext cx="8368670" cy="991730"/>
            </a:xfrm>
            <a:prstGeom prst="rect">
              <a:avLst/>
            </a:prstGeom>
            <a:solidFill>
              <a:srgbClr val="CCECFF"/>
            </a:solidFill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spcBef>
                  <a:spcPct val="20000"/>
                </a:spcBef>
              </a:pPr>
              <a:endParaRPr lang="en-US" sz="4800" dirty="0" smtClean="0">
                <a:ea typeface="Batang" panose="02030600000101010101" pitchFamily="18" charset="-127"/>
              </a:endParaRPr>
            </a:p>
          </p:txBody>
        </p:sp>
        <p:sp>
          <p:nvSpPr>
            <p:cNvPr id="40" name="Rectangle 2"/>
            <p:cNvSpPr txBox="1">
              <a:spLocks noChangeArrowheads="1"/>
            </p:cNvSpPr>
            <p:nvPr/>
          </p:nvSpPr>
          <p:spPr bwMode="auto">
            <a:xfrm>
              <a:off x="1395849" y="2046841"/>
              <a:ext cx="7677146" cy="921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 kern="1200">
                  <a:solidFill>
                    <a:srgbClr val="292929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 kern="1200">
                  <a:solidFill>
                    <a:srgbClr val="292929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kern="1200">
                  <a:solidFill>
                    <a:srgbClr val="292929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292929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rgbClr val="292929"/>
                  </a:solidFill>
                  <a:latin typeface="Calibri" panose="020F0502020204030204" pitchFamily="34" charset="0"/>
                  <a:ea typeface="+mn-ea"/>
                  <a:cs typeface="+mn-cs"/>
                </a:defRPr>
              </a:lvl5pPr>
              <a:lvl6pPr marL="2514600" indent="-228600" algn="r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r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r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r" defTabSz="914400" rtl="1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en-US" sz="2500" dirty="0" smtClean="0">
                  <a:solidFill>
                    <a:schemeClr val="tx1"/>
                  </a:solidFill>
                </a:rPr>
                <a:t>In example: nodes are </a:t>
              </a:r>
              <a:r>
                <a:rPr lang="en-US" altLang="en-US" sz="2500" b="1" dirty="0" smtClean="0">
                  <a:solidFill>
                    <a:schemeClr val="tx1"/>
                  </a:solidFill>
                </a:rPr>
                <a:t>marked removed </a:t>
              </a:r>
              <a:br>
                <a:rPr lang="en-US" altLang="en-US" sz="2500" b="1" dirty="0" smtClean="0">
                  <a:solidFill>
                    <a:schemeClr val="tx1"/>
                  </a:solidFill>
                </a:rPr>
              </a:br>
              <a:r>
                <a:rPr lang="en-US" altLang="en-US" sz="2500" dirty="0" smtClean="0">
                  <a:solidFill>
                    <a:schemeClr val="tx1"/>
                  </a:solidFill>
                </a:rPr>
                <a:t>when their </a:t>
              </a:r>
              <a:r>
                <a:rPr lang="en-US" altLang="en-US" sz="2500" b="1" dirty="0" smtClean="0">
                  <a:solidFill>
                    <a:schemeClr val="tx1"/>
                  </a:solidFill>
                </a:rPr>
                <a:t>search reachability is reduced</a:t>
              </a:r>
              <a:r>
                <a:rPr lang="en-US" altLang="en-US" sz="2500" dirty="0" smtClean="0">
                  <a:solidFill>
                    <a:schemeClr val="tx1"/>
                  </a:solidFill>
                </a:rPr>
                <a:t>;</a:t>
              </a:r>
              <a:br>
                <a:rPr lang="en-US" altLang="en-US" sz="2500" dirty="0" smtClean="0">
                  <a:solidFill>
                    <a:schemeClr val="tx1"/>
                  </a:solidFill>
                </a:rPr>
              </a:br>
              <a:r>
                <a:rPr lang="en-US" altLang="en-US" sz="2500" dirty="0" smtClean="0">
                  <a:solidFill>
                    <a:schemeClr val="tx1"/>
                  </a:solidFill>
                </a:rPr>
                <a:t>writers lock and </a:t>
              </a:r>
              <a:r>
                <a:rPr lang="en-US" altLang="en-US" sz="2500" b="1" dirty="0" smtClean="0">
                  <a:solidFill>
                    <a:schemeClr val="tx1"/>
                  </a:solidFill>
                </a:rPr>
                <a:t>check the marked</a:t>
              </a:r>
              <a:r>
                <a:rPr lang="en-US" altLang="en-US" sz="2500" dirty="0" smtClean="0">
                  <a:solidFill>
                    <a:schemeClr val="tx1"/>
                  </a:solidFill>
                </a:rPr>
                <a:t> bit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4047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88179" cy="1325563"/>
          </a:xfrm>
        </p:spPr>
        <p:txBody>
          <a:bodyPr/>
          <a:lstStyle/>
          <a:p>
            <a:r>
              <a:rPr lang="en-US" dirty="0"/>
              <a:t>Local View </a:t>
            </a:r>
            <a:r>
              <a:rPr lang="en-US" dirty="0" smtClean="0"/>
              <a:t>Argument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3854309" y="5367684"/>
            <a:ext cx="1520481" cy="298559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362" y="5217583"/>
            <a:ext cx="1564661" cy="507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501995" y="3014149"/>
            <a:ext cx="3231106" cy="120032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7030A0"/>
                </a:solidFill>
              </a:rPr>
              <a:t>Sequential reasoning</a:t>
            </a:r>
            <a:r>
              <a:rPr lang="en-US" sz="2400" dirty="0" smtClean="0">
                <a:solidFill>
                  <a:schemeClr val="accent2"/>
                </a:solidFill>
              </a:rPr>
              <a:t> to show traversal correct without interference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61287" y="3014149"/>
            <a:ext cx="3231106" cy="120032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Correctness of concurrent traversals</a:t>
            </a:r>
            <a:b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07185" y="2238471"/>
            <a:ext cx="3231106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7030A0"/>
                </a:solidFill>
              </a:rPr>
              <a:t>Order &amp; Preservation</a:t>
            </a:r>
            <a:endParaRPr lang="en-US" sz="2400" b="1" dirty="0">
              <a:solidFill>
                <a:srgbClr val="7030A0"/>
              </a:solidFill>
            </a:endParaRPr>
          </a:p>
        </p:txBody>
      </p:sp>
      <p:cxnSp>
        <p:nvCxnSpPr>
          <p:cNvPr id="6" name="Straight Arrow Connector 5"/>
          <p:cNvCxnSpPr>
            <a:stCxn id="9" idx="2"/>
          </p:cNvCxnSpPr>
          <p:nvPr/>
        </p:nvCxnSpPr>
        <p:spPr>
          <a:xfrm flipH="1">
            <a:off x="4706754" y="2700136"/>
            <a:ext cx="15984" cy="2667548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879" y="5149318"/>
            <a:ext cx="2308278" cy="609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968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53401"/>
            <a:ext cx="7886700" cy="1325563"/>
          </a:xfrm>
        </p:spPr>
        <p:txBody>
          <a:bodyPr/>
          <a:lstStyle/>
          <a:p>
            <a:r>
              <a:rPr lang="en-US" dirty="0" smtClean="0"/>
              <a:t>Idea: Consistency from Ordering</a:t>
            </a:r>
            <a:endParaRPr lang="en-US" dirty="0"/>
          </a:p>
        </p:txBody>
      </p:sp>
      <p:grpSp>
        <p:nvGrpSpPr>
          <p:cNvPr id="93" name="Group 92"/>
          <p:cNvGrpSpPr/>
          <p:nvPr/>
        </p:nvGrpSpPr>
        <p:grpSpPr>
          <a:xfrm>
            <a:off x="4655243" y="2398750"/>
            <a:ext cx="2278420" cy="1356968"/>
            <a:chOff x="4821536" y="3072862"/>
            <a:chExt cx="4041464" cy="2406991"/>
          </a:xfrm>
        </p:grpSpPr>
        <p:cxnSp>
          <p:nvCxnSpPr>
            <p:cNvPr id="102" name="Straight Arrow Connector 101"/>
            <p:cNvCxnSpPr/>
            <p:nvPr/>
          </p:nvCxnSpPr>
          <p:spPr>
            <a:xfrm flipH="1">
              <a:off x="6715800" y="3589854"/>
              <a:ext cx="818201" cy="5169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/>
            <p:nvPr/>
          </p:nvCxnSpPr>
          <p:spPr>
            <a:xfrm>
              <a:off x="5927276" y="4737176"/>
              <a:ext cx="666499" cy="4513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Oval 103"/>
            <p:cNvSpPr/>
            <p:nvPr/>
          </p:nvSpPr>
          <p:spPr>
            <a:xfrm>
              <a:off x="6488311" y="5174631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300" dirty="0"/>
            </a:p>
          </p:txBody>
        </p:sp>
        <p:sp>
          <p:nvSpPr>
            <p:cNvPr id="105" name="Oval 104"/>
            <p:cNvSpPr/>
            <p:nvPr/>
          </p:nvSpPr>
          <p:spPr>
            <a:xfrm>
              <a:off x="7513401" y="3449189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300" dirty="0"/>
            </a:p>
          </p:txBody>
        </p:sp>
        <p:sp>
          <p:nvSpPr>
            <p:cNvPr id="106" name="Oval 105"/>
            <p:cNvSpPr/>
            <p:nvPr/>
          </p:nvSpPr>
          <p:spPr>
            <a:xfrm>
              <a:off x="6595736" y="4064712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300" dirty="0"/>
            </a:p>
          </p:txBody>
        </p:sp>
        <p:cxnSp>
          <p:nvCxnSpPr>
            <p:cNvPr id="107" name="Straight Arrow Connector 106"/>
            <p:cNvCxnSpPr>
              <a:endCxn id="108" idx="0"/>
            </p:cNvCxnSpPr>
            <p:nvPr/>
          </p:nvCxnSpPr>
          <p:spPr>
            <a:xfrm flipH="1">
              <a:off x="5810775" y="4148045"/>
              <a:ext cx="818201" cy="5169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val 107"/>
            <p:cNvSpPr/>
            <p:nvPr/>
          </p:nvSpPr>
          <p:spPr>
            <a:xfrm>
              <a:off x="5670110" y="4665036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300" dirty="0"/>
            </a:p>
          </p:txBody>
        </p:sp>
        <p:cxnSp>
          <p:nvCxnSpPr>
            <p:cNvPr id="109" name="Straight Arrow Connector 108"/>
            <p:cNvCxnSpPr/>
            <p:nvPr/>
          </p:nvCxnSpPr>
          <p:spPr>
            <a:xfrm>
              <a:off x="7397456" y="3072862"/>
              <a:ext cx="267997" cy="3874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Oval 109"/>
            <p:cNvSpPr/>
            <p:nvPr/>
          </p:nvSpPr>
          <p:spPr>
            <a:xfrm>
              <a:off x="4821536" y="5198524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300" dirty="0"/>
            </a:p>
          </p:txBody>
        </p:sp>
        <p:cxnSp>
          <p:nvCxnSpPr>
            <p:cNvPr id="111" name="Straight Arrow Connector 110"/>
            <p:cNvCxnSpPr>
              <a:endCxn id="110" idx="0"/>
            </p:cNvCxnSpPr>
            <p:nvPr/>
          </p:nvCxnSpPr>
          <p:spPr>
            <a:xfrm flipH="1">
              <a:off x="4962201" y="4723303"/>
              <a:ext cx="731028" cy="4752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Oval 111"/>
            <p:cNvSpPr/>
            <p:nvPr/>
          </p:nvSpPr>
          <p:spPr>
            <a:xfrm>
              <a:off x="8581671" y="4116091"/>
              <a:ext cx="281329" cy="2813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300" dirty="0"/>
            </a:p>
          </p:txBody>
        </p:sp>
        <p:cxnSp>
          <p:nvCxnSpPr>
            <p:cNvPr id="113" name="Straight Arrow Connector 112"/>
            <p:cNvCxnSpPr>
              <a:endCxn id="112" idx="0"/>
            </p:cNvCxnSpPr>
            <p:nvPr/>
          </p:nvCxnSpPr>
          <p:spPr>
            <a:xfrm>
              <a:off x="7794730" y="3558911"/>
              <a:ext cx="927606" cy="5571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/>
          <p:cNvGrpSpPr/>
          <p:nvPr/>
        </p:nvGrpSpPr>
        <p:grpSpPr>
          <a:xfrm>
            <a:off x="2477008" y="2430345"/>
            <a:ext cx="1034317" cy="934008"/>
            <a:chOff x="1313956" y="2904216"/>
            <a:chExt cx="1834673" cy="1656745"/>
          </a:xfrm>
        </p:grpSpPr>
        <p:grpSp>
          <p:nvGrpSpPr>
            <p:cNvPr id="95" name="Group 94"/>
            <p:cNvGrpSpPr/>
            <p:nvPr/>
          </p:nvGrpSpPr>
          <p:grpSpPr>
            <a:xfrm>
              <a:off x="1313956" y="3268105"/>
              <a:ext cx="1834673" cy="1292856"/>
              <a:chOff x="1626359" y="3621107"/>
              <a:chExt cx="2124620" cy="1497176"/>
            </a:xfrm>
          </p:grpSpPr>
          <p:sp>
            <p:nvSpPr>
              <p:cNvPr id="97" name="Oval 96"/>
              <p:cNvSpPr/>
              <p:nvPr/>
            </p:nvSpPr>
            <p:spPr>
              <a:xfrm>
                <a:off x="3469650" y="3621107"/>
                <a:ext cx="281329" cy="281329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2551985" y="4236630"/>
                <a:ext cx="281329" cy="281329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99" name="Straight Arrow Connector 98"/>
              <p:cNvCxnSpPr>
                <a:endCxn id="100" idx="0"/>
              </p:cNvCxnSpPr>
              <p:nvPr/>
            </p:nvCxnSpPr>
            <p:spPr>
              <a:xfrm flipH="1">
                <a:off x="1767024" y="4319963"/>
                <a:ext cx="818201" cy="516991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Oval 99"/>
              <p:cNvSpPr/>
              <p:nvPr/>
            </p:nvSpPr>
            <p:spPr>
              <a:xfrm>
                <a:off x="1626359" y="4836954"/>
                <a:ext cx="281329" cy="281329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101" name="Straight Arrow Connector 100"/>
              <p:cNvCxnSpPr/>
              <p:nvPr/>
            </p:nvCxnSpPr>
            <p:spPr>
              <a:xfrm flipH="1">
                <a:off x="2692649" y="3716713"/>
                <a:ext cx="818201" cy="516991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6" name="Straight Arrow Connector 95"/>
            <p:cNvCxnSpPr/>
            <p:nvPr/>
          </p:nvCxnSpPr>
          <p:spPr>
            <a:xfrm>
              <a:off x="2749585" y="2904216"/>
              <a:ext cx="267997" cy="387422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TextBox 115"/>
          <p:cNvSpPr txBox="1"/>
          <p:nvPr/>
        </p:nvSpPr>
        <p:spPr>
          <a:xfrm>
            <a:off x="7009182" y="2314947"/>
            <a:ext cx="18939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global memory</a:t>
            </a:r>
            <a:endParaRPr lang="en-US" sz="2200" dirty="0"/>
          </a:p>
        </p:txBody>
      </p:sp>
      <p:sp>
        <p:nvSpPr>
          <p:cNvPr id="117" name="TextBox 116"/>
          <p:cNvSpPr txBox="1"/>
          <p:nvPr/>
        </p:nvSpPr>
        <p:spPr>
          <a:xfrm>
            <a:off x="805556" y="2298522"/>
            <a:ext cx="1751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thread’s view</a:t>
            </a:r>
            <a:endParaRPr lang="en-US" sz="2200" dirty="0"/>
          </a:p>
        </p:txBody>
      </p:sp>
      <p:cxnSp>
        <p:nvCxnSpPr>
          <p:cNvPr id="121" name="Straight Arrow Connector 120"/>
          <p:cNvCxnSpPr/>
          <p:nvPr/>
        </p:nvCxnSpPr>
        <p:spPr>
          <a:xfrm>
            <a:off x="3994484" y="3013289"/>
            <a:ext cx="905283" cy="0"/>
          </a:xfrm>
          <a:prstGeom prst="straightConnector1">
            <a:avLst/>
          </a:prstGeom>
          <a:ln w="508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808636"/>
                <a:ext cx="7886700" cy="514066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Writes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 smtClean="0"/>
                  <a:t> are </a:t>
                </a:r>
                <a:r>
                  <a:rPr lang="en-US" dirty="0" smtClean="0">
                    <a:solidFill>
                      <a:srgbClr val="7030A0"/>
                    </a:solidFill>
                  </a:rPr>
                  <a:t>forward-agreeing </a:t>
                </a:r>
                <a:r>
                  <a:rPr lang="en-US" dirty="0" smtClean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808636"/>
                <a:ext cx="7886700" cy="514066"/>
              </a:xfrm>
              <a:blipFill>
                <a:blip r:embed="rId6"/>
                <a:stretch>
                  <a:fillRect l="-1391" t="-20238" b="-27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5146669" y="4028953"/>
                <a:ext cx="257403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5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5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5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5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5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sz="25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5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5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5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5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5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669" y="4028953"/>
                <a:ext cx="2574038" cy="384721"/>
              </a:xfrm>
              <a:prstGeom prst="rect">
                <a:avLst/>
              </a:prstGeom>
              <a:blipFill>
                <a:blip r:embed="rId7"/>
                <a:stretch>
                  <a:fillRect l="-2364" t="-1587" r="-401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1182902" y="4051354"/>
                <a:ext cx="2725170" cy="4206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5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5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5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sSub>
                            <m:sSubPr>
                              <m:ctrlPr>
                                <a:rPr lang="en-US" sz="25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5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sz="25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sz="25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sSub>
                            <m:sSubPr>
                              <m:ctrlPr>
                                <a:rPr lang="en-US" sz="25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25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en-US" sz="25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5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5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5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902" y="4051354"/>
                <a:ext cx="2725170" cy="420693"/>
              </a:xfrm>
              <a:prstGeom prst="rect">
                <a:avLst/>
              </a:prstGeom>
              <a:blipFill>
                <a:blip r:embed="rId8"/>
                <a:stretch>
                  <a:fillRect l="-2237" t="-1449" r="-4027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Content Placeholder 2"/>
          <p:cNvSpPr txBox="1">
            <a:spLocks/>
          </p:cNvSpPr>
          <p:nvPr/>
        </p:nvSpPr>
        <p:spPr>
          <a:xfrm>
            <a:off x="628650" y="5427154"/>
            <a:ext cx="8303594" cy="937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7030A0"/>
                </a:solidFill>
              </a:rPr>
              <a:t>Preservation </a:t>
            </a:r>
            <a:r>
              <a:rPr lang="en-US" dirty="0" smtClean="0"/>
              <a:t>complements the backwards path</a:t>
            </a:r>
            <a:endParaRPr lang="en-US" b="1" dirty="0" smtClean="0"/>
          </a:p>
          <a:p>
            <a:endParaRPr lang="en-US" dirty="0"/>
          </a:p>
        </p:txBody>
      </p:sp>
      <p:sp>
        <p:nvSpPr>
          <p:cNvPr id="128" name="Content Placeholder 2"/>
          <p:cNvSpPr txBox="1">
            <a:spLocks/>
          </p:cNvSpPr>
          <p:nvPr/>
        </p:nvSpPr>
        <p:spPr>
          <a:xfrm>
            <a:off x="628650" y="1586796"/>
            <a:ext cx="7886700" cy="514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Run with </a:t>
            </a:r>
            <a:r>
              <a:rPr lang="en-US" dirty="0" smtClean="0">
                <a:solidFill>
                  <a:srgbClr val="7030A0"/>
                </a:solidFill>
              </a:rPr>
              <a:t>no interference </a:t>
            </a:r>
            <a:r>
              <a:rPr lang="en-US" dirty="0" smtClean="0"/>
              <a:t>on a related heap</a:t>
            </a:r>
            <a:endParaRPr lang="en-US" dirty="0" smtClean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32" name="Content Placeholder 2"/>
          <p:cNvSpPr txBox="1">
            <a:spLocks/>
          </p:cNvSpPr>
          <p:nvPr/>
        </p:nvSpPr>
        <p:spPr>
          <a:xfrm>
            <a:off x="628650" y="5979773"/>
            <a:ext cx="8303594" cy="937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Full details in the paper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60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build="p"/>
      <p:bldP spid="124" grpId="0"/>
      <p:bldP spid="125" grpId="0"/>
      <p:bldP spid="126" grpId="0"/>
      <p:bldP spid="3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5627771" cy="3381642"/>
          </a:xfrm>
        </p:spPr>
        <p:txBody>
          <a:bodyPr>
            <a:noAutofit/>
          </a:bodyPr>
          <a:lstStyle/>
          <a:p>
            <a:r>
              <a:rPr lang="en-US" dirty="0" smtClean="0"/>
              <a:t>Concurrent traversal correctness:</a:t>
            </a:r>
            <a:br>
              <a:rPr lang="en-US" dirty="0" smtClean="0"/>
            </a:br>
            <a:r>
              <a:rPr lang="en-US" dirty="0" smtClean="0"/>
              <a:t>Existence of search path in the past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Order</a:t>
            </a:r>
            <a:r>
              <a:rPr lang="en-US" dirty="0" smtClean="0"/>
              <a:t> &amp; </a:t>
            </a:r>
            <a:r>
              <a:rPr lang="en-US" b="1" dirty="0" smtClean="0">
                <a:solidFill>
                  <a:srgbClr val="7030A0"/>
                </a:solidFill>
              </a:rPr>
              <a:t>preservation </a:t>
            </a:r>
            <a:r>
              <a:rPr lang="en-US" dirty="0" smtClean="0"/>
              <a:t>facilitate proof by </a:t>
            </a:r>
            <a:r>
              <a:rPr lang="en-US" b="1" dirty="0" smtClean="0">
                <a:solidFill>
                  <a:srgbClr val="7030A0"/>
                </a:solidFill>
              </a:rPr>
              <a:t>sequential reasoning</a:t>
            </a:r>
          </a:p>
          <a:p>
            <a:r>
              <a:rPr lang="en-US" dirty="0" smtClean="0"/>
              <a:t>Reasoning on </a:t>
            </a:r>
            <a:r>
              <a:rPr lang="en-US" dirty="0" err="1" smtClean="0"/>
              <a:t>interleavings</a:t>
            </a:r>
            <a:r>
              <a:rPr lang="en-US" dirty="0" smtClean="0"/>
              <a:t> of writes completes the </a:t>
            </a:r>
            <a:r>
              <a:rPr lang="en-US" dirty="0" err="1" smtClean="0"/>
              <a:t>linearizability</a:t>
            </a:r>
            <a:r>
              <a:rPr lang="en-US" dirty="0" smtClean="0"/>
              <a:t> proof</a:t>
            </a:r>
          </a:p>
          <a:p>
            <a:endParaRPr lang="en-US" dirty="0"/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628650" y="5207267"/>
            <a:ext cx="7886700" cy="668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Challenges: backtracking, in-traversal validation</a:t>
            </a:r>
          </a:p>
          <a:p>
            <a:endParaRPr lang="en-US" dirty="0"/>
          </a:p>
        </p:txBody>
      </p:sp>
      <p:sp>
        <p:nvSpPr>
          <p:cNvPr id="56" name="Title 5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grpSp>
        <p:nvGrpSpPr>
          <p:cNvPr id="28" name="Group 27"/>
          <p:cNvGrpSpPr/>
          <p:nvPr/>
        </p:nvGrpSpPr>
        <p:grpSpPr>
          <a:xfrm>
            <a:off x="5031774" y="329103"/>
            <a:ext cx="3600041" cy="1096146"/>
            <a:chOff x="2255627" y="4259094"/>
            <a:chExt cx="4456655" cy="1356968"/>
          </a:xfrm>
        </p:grpSpPr>
        <p:grpSp>
          <p:nvGrpSpPr>
            <p:cNvPr id="29" name="Group 28"/>
            <p:cNvGrpSpPr/>
            <p:nvPr/>
          </p:nvGrpSpPr>
          <p:grpSpPr>
            <a:xfrm>
              <a:off x="4433862" y="4259094"/>
              <a:ext cx="2278420" cy="1356968"/>
              <a:chOff x="4821536" y="3072862"/>
              <a:chExt cx="4041464" cy="2406991"/>
            </a:xfrm>
          </p:grpSpPr>
          <p:cxnSp>
            <p:nvCxnSpPr>
              <p:cNvPr id="63" name="Straight Arrow Connector 62"/>
              <p:cNvCxnSpPr/>
              <p:nvPr/>
            </p:nvCxnSpPr>
            <p:spPr>
              <a:xfrm flipH="1">
                <a:off x="6715800" y="3589854"/>
                <a:ext cx="818201" cy="51699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/>
              <p:cNvCxnSpPr/>
              <p:nvPr/>
            </p:nvCxnSpPr>
            <p:spPr>
              <a:xfrm>
                <a:off x="5927276" y="4737176"/>
                <a:ext cx="666499" cy="4513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/>
              <p:cNvSpPr/>
              <p:nvPr/>
            </p:nvSpPr>
            <p:spPr>
              <a:xfrm>
                <a:off x="6488311" y="5174631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7513401" y="3449189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6595736" y="4064712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68" name="Straight Arrow Connector 67"/>
              <p:cNvCxnSpPr>
                <a:endCxn id="69" idx="0"/>
              </p:cNvCxnSpPr>
              <p:nvPr/>
            </p:nvCxnSpPr>
            <p:spPr>
              <a:xfrm flipH="1">
                <a:off x="5810775" y="4148045"/>
                <a:ext cx="818201" cy="51699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/>
              <p:cNvSpPr/>
              <p:nvPr/>
            </p:nvSpPr>
            <p:spPr>
              <a:xfrm>
                <a:off x="5670110" y="4665036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70" name="Straight Arrow Connector 69"/>
              <p:cNvCxnSpPr/>
              <p:nvPr/>
            </p:nvCxnSpPr>
            <p:spPr>
              <a:xfrm>
                <a:off x="7397456" y="3072862"/>
                <a:ext cx="267997" cy="38742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Oval 70"/>
              <p:cNvSpPr/>
              <p:nvPr/>
            </p:nvSpPr>
            <p:spPr>
              <a:xfrm>
                <a:off x="4821536" y="5198524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72" name="Straight Arrow Connector 71"/>
              <p:cNvCxnSpPr>
                <a:endCxn id="71" idx="0"/>
              </p:cNvCxnSpPr>
              <p:nvPr/>
            </p:nvCxnSpPr>
            <p:spPr>
              <a:xfrm flipH="1">
                <a:off x="4962201" y="4723303"/>
                <a:ext cx="731028" cy="47522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Oval 72"/>
              <p:cNvSpPr/>
              <p:nvPr/>
            </p:nvSpPr>
            <p:spPr>
              <a:xfrm>
                <a:off x="8581671" y="4116091"/>
                <a:ext cx="281329" cy="28132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00" dirty="0"/>
              </a:p>
            </p:txBody>
          </p:sp>
          <p:cxnSp>
            <p:nvCxnSpPr>
              <p:cNvPr id="74" name="Straight Arrow Connector 73"/>
              <p:cNvCxnSpPr>
                <a:endCxn id="73" idx="0"/>
              </p:cNvCxnSpPr>
              <p:nvPr/>
            </p:nvCxnSpPr>
            <p:spPr>
              <a:xfrm>
                <a:off x="7794730" y="3558911"/>
                <a:ext cx="927606" cy="55718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/>
            <p:cNvGrpSpPr/>
            <p:nvPr/>
          </p:nvGrpSpPr>
          <p:grpSpPr>
            <a:xfrm>
              <a:off x="2255627" y="4290689"/>
              <a:ext cx="1034317" cy="934008"/>
              <a:chOff x="1313956" y="2904216"/>
              <a:chExt cx="1834673" cy="1656745"/>
            </a:xfrm>
          </p:grpSpPr>
          <p:grpSp>
            <p:nvGrpSpPr>
              <p:cNvPr id="55" name="Group 54"/>
              <p:cNvGrpSpPr/>
              <p:nvPr/>
            </p:nvGrpSpPr>
            <p:grpSpPr>
              <a:xfrm>
                <a:off x="1313956" y="3268105"/>
                <a:ext cx="1834673" cy="1292856"/>
                <a:chOff x="1626359" y="3621107"/>
                <a:chExt cx="2124620" cy="1497176"/>
              </a:xfrm>
            </p:grpSpPr>
            <p:sp>
              <p:nvSpPr>
                <p:cNvPr id="58" name="Oval 57"/>
                <p:cNvSpPr/>
                <p:nvPr/>
              </p:nvSpPr>
              <p:spPr>
                <a:xfrm>
                  <a:off x="3469650" y="3621107"/>
                  <a:ext cx="281329" cy="28132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300" dirty="0"/>
                </a:p>
              </p:txBody>
            </p:sp>
            <p:sp>
              <p:nvSpPr>
                <p:cNvPr id="59" name="Oval 58"/>
                <p:cNvSpPr/>
                <p:nvPr/>
              </p:nvSpPr>
              <p:spPr>
                <a:xfrm>
                  <a:off x="2551985" y="4236630"/>
                  <a:ext cx="281329" cy="28132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300" dirty="0"/>
                </a:p>
              </p:txBody>
            </p:sp>
            <p:cxnSp>
              <p:nvCxnSpPr>
                <p:cNvPr id="60" name="Straight Arrow Connector 59"/>
                <p:cNvCxnSpPr>
                  <a:endCxn id="61" idx="0"/>
                </p:cNvCxnSpPr>
                <p:nvPr/>
              </p:nvCxnSpPr>
              <p:spPr>
                <a:xfrm flipH="1">
                  <a:off x="1767024" y="4319963"/>
                  <a:ext cx="818201" cy="516991"/>
                </a:xfrm>
                <a:prstGeom prst="straightConnector1">
                  <a:avLst/>
                </a:prstGeom>
                <a:ln>
                  <a:solidFill>
                    <a:schemeClr val="accent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" name="Oval 60"/>
                <p:cNvSpPr/>
                <p:nvPr/>
              </p:nvSpPr>
              <p:spPr>
                <a:xfrm>
                  <a:off x="1626359" y="4836954"/>
                  <a:ext cx="281329" cy="28132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300" dirty="0"/>
                </a:p>
              </p:txBody>
            </p:sp>
            <p:cxnSp>
              <p:nvCxnSpPr>
                <p:cNvPr id="62" name="Straight Arrow Connector 61"/>
                <p:cNvCxnSpPr/>
                <p:nvPr/>
              </p:nvCxnSpPr>
              <p:spPr>
                <a:xfrm flipH="1">
                  <a:off x="2692649" y="3716713"/>
                  <a:ext cx="818201" cy="516991"/>
                </a:xfrm>
                <a:prstGeom prst="straightConnector1">
                  <a:avLst/>
                </a:prstGeom>
                <a:ln>
                  <a:solidFill>
                    <a:schemeClr val="accent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7" name="Straight Arrow Connector 56"/>
              <p:cNvCxnSpPr/>
              <p:nvPr/>
            </p:nvCxnSpPr>
            <p:spPr>
              <a:xfrm>
                <a:off x="2749585" y="2904216"/>
                <a:ext cx="267997" cy="387422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5" name="Right Arrow 74"/>
          <p:cNvSpPr/>
          <p:nvPr/>
        </p:nvSpPr>
        <p:spPr>
          <a:xfrm>
            <a:off x="6227142" y="758346"/>
            <a:ext cx="776133" cy="15240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2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38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Establishing the Conditions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3658"/>
            <a:ext cx="8139965" cy="3568517"/>
          </a:xfrm>
        </p:spPr>
        <p:txBody>
          <a:bodyPr/>
          <a:lstStyle/>
          <a:p>
            <a:r>
              <a:rPr lang="en-US" dirty="0" smtClean="0"/>
              <a:t>In our examples, the proof of the conditions is trivial</a:t>
            </a:r>
          </a:p>
          <a:p>
            <a:r>
              <a:rPr lang="en-US" dirty="0" smtClean="0"/>
              <a:t>Valid to rely on local view arguments by induction on the sequence of writes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83079" y="3557989"/>
            <a:ext cx="3231106" cy="46166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7030A0"/>
                </a:solidFill>
              </a:rPr>
              <a:t>Order &amp; Preservation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83079" y="4488794"/>
            <a:ext cx="3231106" cy="46166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Correctness of traversal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083079" y="5448793"/>
            <a:ext cx="3231106" cy="46166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Correctness of writes</a:t>
            </a:r>
            <a:endParaRPr lang="en-US" sz="2400" dirty="0"/>
          </a:p>
        </p:txBody>
      </p:sp>
      <p:sp>
        <p:nvSpPr>
          <p:cNvPr id="7" name="Down Arrow 6"/>
          <p:cNvSpPr/>
          <p:nvPr/>
        </p:nvSpPr>
        <p:spPr>
          <a:xfrm>
            <a:off x="4562375" y="4067779"/>
            <a:ext cx="308008" cy="3790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4543124" y="5002008"/>
            <a:ext cx="308008" cy="3790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ircular Arrow 8"/>
          <p:cNvSpPr/>
          <p:nvPr/>
        </p:nvSpPr>
        <p:spPr>
          <a:xfrm rot="16200000" flipV="1">
            <a:off x="5084393" y="3462250"/>
            <a:ext cx="2459583" cy="2518095"/>
          </a:xfrm>
          <a:prstGeom prst="circularArrow">
            <a:avLst>
              <a:gd name="adj1" fmla="val 4555"/>
              <a:gd name="adj2" fmla="val 1192363"/>
              <a:gd name="adj3" fmla="val 20279912"/>
              <a:gd name="adj4" fmla="val 10800000"/>
              <a:gd name="adj5" fmla="val 90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874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Related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676" y="1460811"/>
            <a:ext cx="8484452" cy="5039538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General </a:t>
            </a:r>
            <a:r>
              <a:rPr lang="en-US" dirty="0" err="1" smtClean="0"/>
              <a:t>linearizability</a:t>
            </a:r>
            <a:r>
              <a:rPr lang="en-US" dirty="0" smtClean="0"/>
              <a:t> proof methods and program logics – see paper for references</a:t>
            </a:r>
            <a:endParaRPr lang="en-US" dirty="0"/>
          </a:p>
          <a:p>
            <a:r>
              <a:rPr lang="en-US" dirty="0" smtClean="0"/>
              <a:t>Peter </a:t>
            </a:r>
            <a:r>
              <a:rPr lang="en-US" dirty="0"/>
              <a:t>W. </a:t>
            </a:r>
            <a:r>
              <a:rPr lang="en-US" dirty="0" err="1"/>
              <a:t>O'Hearn</a:t>
            </a:r>
            <a:r>
              <a:rPr lang="en-US" dirty="0"/>
              <a:t>, Noam </a:t>
            </a:r>
            <a:r>
              <a:rPr lang="en-US" dirty="0" err="1"/>
              <a:t>Rinetzky</a:t>
            </a:r>
            <a:r>
              <a:rPr lang="en-US" dirty="0"/>
              <a:t>, Martin T. </a:t>
            </a:r>
            <a:r>
              <a:rPr lang="en-US" dirty="0" err="1"/>
              <a:t>Vechev</a:t>
            </a:r>
            <a:r>
              <a:rPr lang="en-US" dirty="0"/>
              <a:t>, </a:t>
            </a:r>
            <a:r>
              <a:rPr lang="en-US" dirty="0" err="1"/>
              <a:t>Eran</a:t>
            </a:r>
            <a:r>
              <a:rPr lang="en-US" dirty="0"/>
              <a:t> </a:t>
            </a:r>
            <a:r>
              <a:rPr lang="en-US" dirty="0" err="1"/>
              <a:t>Yahav</a:t>
            </a:r>
            <a:r>
              <a:rPr lang="en-US" dirty="0"/>
              <a:t>, Greta </a:t>
            </a:r>
            <a:r>
              <a:rPr lang="en-US" dirty="0" err="1"/>
              <a:t>Yorsh</a:t>
            </a:r>
            <a:r>
              <a:rPr lang="en-US" dirty="0"/>
              <a:t>:</a:t>
            </a:r>
            <a:br>
              <a:rPr lang="en-US" dirty="0"/>
            </a:br>
            <a:r>
              <a:rPr lang="en-US" b="1" dirty="0"/>
              <a:t>Verifying </a:t>
            </a:r>
            <a:r>
              <a:rPr lang="en-US" b="1" dirty="0" err="1"/>
              <a:t>linearizability</a:t>
            </a:r>
            <a:r>
              <a:rPr lang="en-US" b="1" dirty="0"/>
              <a:t> with hindsight.</a:t>
            </a:r>
            <a:r>
              <a:rPr lang="en-US" dirty="0"/>
              <a:t> PODC 2010: </a:t>
            </a:r>
            <a:r>
              <a:rPr lang="en-US" dirty="0" smtClean="0"/>
              <a:t>85-94</a:t>
            </a:r>
          </a:p>
          <a:p>
            <a:pPr lvl="1"/>
            <a:r>
              <a:rPr lang="en-US" dirty="0" smtClean="0"/>
              <a:t>Proof of the lazy list by the hindsight lemma</a:t>
            </a:r>
          </a:p>
          <a:p>
            <a:pPr lvl="1"/>
            <a:r>
              <a:rPr lang="en-US" dirty="0" smtClean="0"/>
              <a:t>Specific instance of our extension to </a:t>
            </a:r>
            <a:r>
              <a:rPr lang="en-US" dirty="0" err="1" smtClean="0"/>
              <a:t>path+field</a:t>
            </a:r>
            <a:endParaRPr lang="en-US" dirty="0"/>
          </a:p>
          <a:p>
            <a:r>
              <a:rPr lang="en-US" dirty="0" err="1"/>
              <a:t>Kfir</a:t>
            </a:r>
            <a:r>
              <a:rPr lang="en-US" dirty="0"/>
              <a:t> Lev-Ari, Gregory V. </a:t>
            </a:r>
            <a:r>
              <a:rPr lang="en-US" dirty="0" err="1"/>
              <a:t>Chockler</a:t>
            </a:r>
            <a:r>
              <a:rPr lang="en-US" dirty="0"/>
              <a:t>, </a:t>
            </a:r>
            <a:r>
              <a:rPr lang="en-US" dirty="0" err="1"/>
              <a:t>Idit</a:t>
            </a:r>
            <a:r>
              <a:rPr lang="en-US" dirty="0"/>
              <a:t> </a:t>
            </a:r>
            <a:r>
              <a:rPr lang="en-US" dirty="0" err="1" smtClean="0"/>
              <a:t>Keidar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b="1" dirty="0" smtClean="0"/>
              <a:t>A </a:t>
            </a:r>
            <a:r>
              <a:rPr lang="en-US" b="1" dirty="0"/>
              <a:t>Constructive Approach for Proving Data Structures' </a:t>
            </a:r>
            <a:r>
              <a:rPr lang="en-US" b="1" dirty="0" err="1"/>
              <a:t>Linearizability</a:t>
            </a:r>
            <a:r>
              <a:rPr lang="en-US" b="1" dirty="0"/>
              <a:t>.</a:t>
            </a:r>
            <a:r>
              <a:rPr lang="en-US" dirty="0"/>
              <a:t> DISC 2015: </a:t>
            </a:r>
            <a:r>
              <a:rPr lang="en-US" dirty="0" smtClean="0"/>
              <a:t>356-370</a:t>
            </a:r>
            <a:endParaRPr lang="he-IL" dirty="0" smtClean="0"/>
          </a:p>
          <a:p>
            <a:pPr lvl="1"/>
            <a:r>
              <a:rPr lang="en-US" dirty="0" smtClean="0"/>
              <a:t>Uses sequential reasoning on the data structure</a:t>
            </a:r>
          </a:p>
          <a:p>
            <a:pPr lvl="1"/>
            <a:r>
              <a:rPr lang="en-US" dirty="0" smtClean="0"/>
              <a:t>Relies on </a:t>
            </a:r>
            <a:r>
              <a:rPr lang="en-US" b="1" dirty="0" smtClean="0"/>
              <a:t>base points</a:t>
            </a:r>
            <a:r>
              <a:rPr lang="en-US" dirty="0" smtClean="0"/>
              <a:t> – which our technique can establish</a:t>
            </a:r>
            <a:endParaRPr lang="en-US" dirty="0"/>
          </a:p>
          <a:p>
            <a:r>
              <a:rPr lang="en-US" dirty="0"/>
              <a:t>Dennis E. </a:t>
            </a:r>
            <a:r>
              <a:rPr lang="en-US" dirty="0" err="1"/>
              <a:t>Shasha</a:t>
            </a:r>
            <a:r>
              <a:rPr lang="en-US" dirty="0"/>
              <a:t>, Nathan </a:t>
            </a:r>
            <a:r>
              <a:rPr lang="en-US" dirty="0" smtClean="0"/>
              <a:t>Goodman:</a:t>
            </a:r>
            <a:br>
              <a:rPr lang="en-US" dirty="0" smtClean="0"/>
            </a:br>
            <a:r>
              <a:rPr lang="en-US" b="1" dirty="0" smtClean="0"/>
              <a:t>Concurrent </a:t>
            </a:r>
            <a:r>
              <a:rPr lang="en-US" b="1" dirty="0"/>
              <a:t>Search Structure Algorithms.</a:t>
            </a:r>
            <a:r>
              <a:rPr lang="en-US" dirty="0"/>
              <a:t> ACM Trans. Database Syst. 13(1): 53-90 (1988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Framework for proving </a:t>
            </a:r>
            <a:r>
              <a:rPr lang="en-US" dirty="0" err="1" smtClean="0"/>
              <a:t>linearizability</a:t>
            </a:r>
            <a:r>
              <a:rPr lang="en-US" dirty="0" smtClean="0"/>
              <a:t> of </a:t>
            </a:r>
            <a:r>
              <a:rPr lang="en-US" dirty="0" smtClean="0"/>
              <a:t>search </a:t>
            </a:r>
            <a:r>
              <a:rPr lang="en-US" dirty="0" smtClean="0"/>
              <a:t>data structures</a:t>
            </a:r>
          </a:p>
          <a:p>
            <a:pPr lvl="1"/>
            <a:r>
              <a:rPr lang="en-US" dirty="0" smtClean="0"/>
              <a:t>3 templates for traversal correctness, proofs require concurrent reasoning on </a:t>
            </a:r>
            <a:r>
              <a:rPr lang="en-US" dirty="0" err="1" smtClean="0"/>
              <a:t>interleavings</a:t>
            </a:r>
            <a:r>
              <a:rPr lang="en-US" dirty="0" smtClean="0"/>
              <a:t> of reads and writes</a:t>
            </a:r>
            <a:endParaRPr lang="en-US" dirty="0"/>
          </a:p>
        </p:txBody>
      </p:sp>
      <p:pic>
        <p:nvPicPr>
          <p:cNvPr id="2050" name="Picture 2" descr="https://dblp.org/img/link.dark.hollow.16x16.pn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-136525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dblp.org/img/link.dark.hollow.16x16.png">
            <a:hlinkClick r:id="rId4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5875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81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479" y="1371600"/>
            <a:ext cx="8515350" cy="5252224"/>
          </a:xfrm>
        </p:spPr>
        <p:txBody>
          <a:bodyPr>
            <a:noAutofit/>
          </a:bodyPr>
          <a:lstStyle/>
          <a:p>
            <a:r>
              <a:rPr lang="en-US" sz="1600" dirty="0" smtClean="0"/>
              <a:t>[Fraser-04] Keir Fraser:</a:t>
            </a:r>
            <a:br>
              <a:rPr lang="en-US" sz="1600" dirty="0" smtClean="0"/>
            </a:br>
            <a:r>
              <a:rPr lang="en-US" sz="1600" b="1" dirty="0" smtClean="0"/>
              <a:t>Practical lock-freedom. </a:t>
            </a:r>
            <a:r>
              <a:rPr lang="en-US" sz="1600" dirty="0" smtClean="0"/>
              <a:t>PhD thesis</a:t>
            </a:r>
          </a:p>
          <a:p>
            <a:r>
              <a:rPr lang="en-US" sz="1600" dirty="0" smtClean="0"/>
              <a:t>[OPODIS’05] Steve </a:t>
            </a:r>
            <a:r>
              <a:rPr lang="en-US" sz="1600" dirty="0"/>
              <a:t>Heller, Maurice </a:t>
            </a:r>
            <a:r>
              <a:rPr lang="en-US" sz="1600" dirty="0" err="1"/>
              <a:t>Herlihy</a:t>
            </a:r>
            <a:r>
              <a:rPr lang="en-US" sz="1600" dirty="0"/>
              <a:t>, Victor </a:t>
            </a:r>
            <a:r>
              <a:rPr lang="en-US" sz="1600" dirty="0" err="1"/>
              <a:t>Luchangco</a:t>
            </a:r>
            <a:r>
              <a:rPr lang="en-US" sz="1600" dirty="0"/>
              <a:t>, Mark </a:t>
            </a:r>
            <a:r>
              <a:rPr lang="en-US" sz="1600" dirty="0" err="1"/>
              <a:t>Moir</a:t>
            </a:r>
            <a:r>
              <a:rPr lang="en-US" sz="1600" dirty="0"/>
              <a:t>, William N. Scherer III, </a:t>
            </a:r>
            <a:r>
              <a:rPr lang="en-US" sz="1600" dirty="0" err="1"/>
              <a:t>Nir</a:t>
            </a:r>
            <a:r>
              <a:rPr lang="en-US" sz="1600" dirty="0"/>
              <a:t> </a:t>
            </a:r>
            <a:r>
              <a:rPr lang="en-US" sz="1600" dirty="0" err="1" smtClean="0"/>
              <a:t>Shavit</a:t>
            </a:r>
            <a:r>
              <a:rPr lang="en-US" sz="1600" dirty="0" smtClean="0"/>
              <a:t>:</a:t>
            </a:r>
            <a:br>
              <a:rPr lang="en-US" sz="1600" dirty="0" smtClean="0"/>
            </a:br>
            <a:r>
              <a:rPr lang="en-US" sz="1600" b="1" dirty="0" smtClean="0"/>
              <a:t>A </a:t>
            </a:r>
            <a:r>
              <a:rPr lang="en-US" sz="1600" b="1" dirty="0"/>
              <a:t>Lazy Concurrent List-Based Set Algorithm.</a:t>
            </a:r>
            <a:r>
              <a:rPr lang="en-US" sz="1600" dirty="0"/>
              <a:t> OPODIS 2005: </a:t>
            </a:r>
            <a:r>
              <a:rPr lang="en-US" sz="1600" dirty="0" smtClean="0"/>
              <a:t>3-16</a:t>
            </a:r>
          </a:p>
          <a:p>
            <a:r>
              <a:rPr lang="en-US" sz="1600" dirty="0" smtClean="0"/>
              <a:t>[</a:t>
            </a:r>
            <a:r>
              <a:rPr lang="en-US" sz="1600" dirty="0"/>
              <a:t>PODC’10] Faith Ellen, </a:t>
            </a:r>
            <a:r>
              <a:rPr lang="en-US" sz="1600" dirty="0" err="1"/>
              <a:t>Panagiota</a:t>
            </a:r>
            <a:r>
              <a:rPr lang="en-US" sz="1600" dirty="0"/>
              <a:t> </a:t>
            </a:r>
            <a:r>
              <a:rPr lang="en-US" sz="1600" dirty="0" err="1"/>
              <a:t>Fatourou</a:t>
            </a:r>
            <a:r>
              <a:rPr lang="en-US" sz="1600" dirty="0"/>
              <a:t>, Eric </a:t>
            </a:r>
            <a:r>
              <a:rPr lang="en-US" sz="1600" dirty="0" err="1"/>
              <a:t>Ruppert</a:t>
            </a:r>
            <a:r>
              <a:rPr lang="en-US" sz="1600" dirty="0"/>
              <a:t>, Franck van </a:t>
            </a:r>
            <a:r>
              <a:rPr lang="en-US" sz="1600" dirty="0" err="1"/>
              <a:t>Breugel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b="1" dirty="0"/>
              <a:t>Non-blocking binary search trees.</a:t>
            </a:r>
            <a:r>
              <a:rPr lang="en-US" sz="1600" dirty="0"/>
              <a:t> PODC 2010: 131-140 </a:t>
            </a:r>
          </a:p>
          <a:p>
            <a:r>
              <a:rPr lang="en-US" sz="1600" dirty="0" smtClean="0"/>
              <a:t>[</a:t>
            </a:r>
            <a:r>
              <a:rPr lang="en-US" sz="1600" dirty="0"/>
              <a:t>SPAA’12] Shane V. </a:t>
            </a:r>
            <a:r>
              <a:rPr lang="en-US" sz="1600" dirty="0" err="1"/>
              <a:t>Howley</a:t>
            </a:r>
            <a:r>
              <a:rPr lang="en-US" sz="1600" dirty="0"/>
              <a:t>, Jeremy Jones:</a:t>
            </a:r>
            <a:br>
              <a:rPr lang="en-US" sz="1600" dirty="0"/>
            </a:br>
            <a:r>
              <a:rPr lang="en-US" sz="1600" b="1" dirty="0"/>
              <a:t>A non-blocking internal binary search tree.</a:t>
            </a:r>
            <a:r>
              <a:rPr lang="en-US" sz="1600" dirty="0"/>
              <a:t> SPAA 2012: 161-171 </a:t>
            </a:r>
            <a:endParaRPr lang="en-US" sz="1600" dirty="0" smtClean="0"/>
          </a:p>
          <a:p>
            <a:r>
              <a:rPr lang="en-US" sz="1600" dirty="0"/>
              <a:t>[EuroPar’13] Tyler Crain, Vincent </a:t>
            </a:r>
            <a:r>
              <a:rPr lang="en-US" sz="1600" dirty="0" err="1"/>
              <a:t>Gramoli</a:t>
            </a:r>
            <a:r>
              <a:rPr lang="en-US" sz="1600" dirty="0"/>
              <a:t>, Michel </a:t>
            </a:r>
            <a:r>
              <a:rPr lang="en-US" sz="1600" dirty="0" err="1"/>
              <a:t>Raynal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b="1" dirty="0"/>
              <a:t>A Contention-Friendly Binary Search Tree.</a:t>
            </a:r>
            <a:r>
              <a:rPr lang="en-US" sz="1600" dirty="0"/>
              <a:t> Euro-Par 2013: </a:t>
            </a:r>
            <a:r>
              <a:rPr lang="en-US" sz="1600" dirty="0" smtClean="0"/>
              <a:t>229-240</a:t>
            </a:r>
            <a:endParaRPr lang="en-US" sz="1600" dirty="0"/>
          </a:p>
          <a:p>
            <a:r>
              <a:rPr lang="en-US" sz="1600" dirty="0" smtClean="0"/>
              <a:t>[PPOPP’14b] Trevor </a:t>
            </a:r>
            <a:r>
              <a:rPr lang="en-US" sz="1600" dirty="0"/>
              <a:t>Brown, Faith Ellen, Eric </a:t>
            </a:r>
            <a:r>
              <a:rPr lang="en-US" sz="1600" dirty="0" err="1"/>
              <a:t>Ruppert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b="1" dirty="0"/>
              <a:t>A general technique for non-blocking trees.</a:t>
            </a:r>
            <a:r>
              <a:rPr lang="en-US" sz="1600" dirty="0"/>
              <a:t> PPOPP 2014: </a:t>
            </a:r>
            <a:r>
              <a:rPr lang="en-US" sz="1600" dirty="0" smtClean="0"/>
              <a:t>329-342</a:t>
            </a:r>
          </a:p>
          <a:p>
            <a:r>
              <a:rPr lang="en-US" sz="1600" dirty="0" smtClean="0"/>
              <a:t>[PPOPP’14a] </a:t>
            </a:r>
            <a:r>
              <a:rPr lang="en-US" sz="1600" dirty="0" err="1" smtClean="0"/>
              <a:t>Aravind</a:t>
            </a:r>
            <a:r>
              <a:rPr lang="en-US" sz="1600" dirty="0" smtClean="0"/>
              <a:t> </a:t>
            </a:r>
            <a:r>
              <a:rPr lang="en-US" sz="1600" dirty="0"/>
              <a:t>Natarajan, </a:t>
            </a:r>
            <a:r>
              <a:rPr lang="en-US" sz="1600" dirty="0" err="1"/>
              <a:t>Neeraj</a:t>
            </a:r>
            <a:r>
              <a:rPr lang="en-US" sz="1600" dirty="0"/>
              <a:t> Mittal:</a:t>
            </a:r>
            <a:br>
              <a:rPr lang="en-US" sz="1600" dirty="0"/>
            </a:br>
            <a:r>
              <a:rPr lang="en-US" sz="1600" b="1" dirty="0"/>
              <a:t>Fast concurrent lock-free binary search trees.</a:t>
            </a:r>
            <a:r>
              <a:rPr lang="en-US" sz="1600" dirty="0"/>
              <a:t> PPOPP 2014: 317-328</a:t>
            </a:r>
          </a:p>
          <a:p>
            <a:r>
              <a:rPr lang="en-US" sz="1600" dirty="0" smtClean="0"/>
              <a:t>[ICDCN’15] </a:t>
            </a:r>
            <a:r>
              <a:rPr lang="en-US" sz="1600" dirty="0" err="1" smtClean="0"/>
              <a:t>Arunmoezhi</a:t>
            </a:r>
            <a:r>
              <a:rPr lang="en-US" sz="1600" dirty="0" smtClean="0"/>
              <a:t> </a:t>
            </a:r>
            <a:r>
              <a:rPr lang="en-US" sz="1600" dirty="0"/>
              <a:t>Ramachandran, </a:t>
            </a:r>
            <a:r>
              <a:rPr lang="en-US" sz="1600" dirty="0" err="1"/>
              <a:t>Neeraj</a:t>
            </a:r>
            <a:r>
              <a:rPr lang="en-US" sz="1600" dirty="0"/>
              <a:t> </a:t>
            </a:r>
            <a:r>
              <a:rPr lang="en-US" sz="1600" dirty="0" smtClean="0"/>
              <a:t>Mittal:</a:t>
            </a:r>
            <a:br>
              <a:rPr lang="en-US" sz="1600" dirty="0" smtClean="0"/>
            </a:br>
            <a:r>
              <a:rPr lang="en-US" sz="1600" b="1" dirty="0" smtClean="0"/>
              <a:t>A </a:t>
            </a:r>
            <a:r>
              <a:rPr lang="en-US" sz="1600" b="1" dirty="0"/>
              <a:t>Fast Lock-Free Internal Binary Search Tree.</a:t>
            </a:r>
            <a:r>
              <a:rPr lang="en-US" sz="1600" dirty="0"/>
              <a:t> ICDCN 2015: </a:t>
            </a:r>
            <a:r>
              <a:rPr lang="en-US" sz="1600" dirty="0" smtClean="0"/>
              <a:t>37:1-37:10</a:t>
            </a:r>
          </a:p>
          <a:p>
            <a:r>
              <a:rPr lang="en-US" sz="1600" dirty="0"/>
              <a:t>[PPL’16] Tyler Crain, Vincent </a:t>
            </a:r>
            <a:r>
              <a:rPr lang="en-US" sz="1600" dirty="0" err="1"/>
              <a:t>Gramoli</a:t>
            </a:r>
            <a:r>
              <a:rPr lang="en-US" sz="1600" dirty="0"/>
              <a:t>, Michel </a:t>
            </a:r>
            <a:r>
              <a:rPr lang="en-US" sz="1600" dirty="0" err="1"/>
              <a:t>Raynal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b="1" dirty="0"/>
              <a:t>A Fast Contention-Friendly Binary Search Tree.</a:t>
            </a:r>
            <a:r>
              <a:rPr lang="en-US" sz="1600" dirty="0"/>
              <a:t> Parallel Processing Letters 26(3): 1-17 (2016)</a:t>
            </a:r>
          </a:p>
          <a:p>
            <a:endParaRPr lang="en-US" sz="1600" dirty="0" smtClean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5570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51019</TotalTime>
  <Words>2401</Words>
  <Application>Microsoft Office PowerPoint</Application>
  <PresentationFormat>On-screen Show (4:3)</PresentationFormat>
  <Paragraphs>559</Paragraphs>
  <Slides>46</Slides>
  <Notes>25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Batang</vt:lpstr>
      <vt:lpstr>Calibri</vt:lpstr>
      <vt:lpstr>Calibri Light</vt:lpstr>
      <vt:lpstr>Cambria Math</vt:lpstr>
      <vt:lpstr>Office Theme</vt:lpstr>
      <vt:lpstr>Order out of Chaos: Proving Linearizability Using Local Views</vt:lpstr>
      <vt:lpstr>Concurrent Reasoning is Hard</vt:lpstr>
      <vt:lpstr>Optimistic Traversals</vt:lpstr>
      <vt:lpstr>This Work</vt:lpstr>
      <vt:lpstr>Example: Lazy Binary Tree</vt:lpstr>
      <vt:lpstr>Linearizability Proof Uses Paths</vt:lpstr>
      <vt:lpstr>Linearizability Proof Uses Paths</vt:lpstr>
      <vt:lpstr>Traversals: Inconsistent View</vt:lpstr>
      <vt:lpstr>Traversals: Inconsistent View</vt:lpstr>
      <vt:lpstr>Traversals: Inconsistent View</vt:lpstr>
      <vt:lpstr>Traversals: Inconsistent View</vt:lpstr>
      <vt:lpstr>Traversals: Inconsistent View</vt:lpstr>
      <vt:lpstr>Traversals: Inconsistent View</vt:lpstr>
      <vt:lpstr>Traversals: Inconsistent View</vt:lpstr>
      <vt:lpstr>Traversals: Inconsistent View</vt:lpstr>
      <vt:lpstr>Traversals: Inconsistent View</vt:lpstr>
      <vt:lpstr>Traversals: Inconsistent View</vt:lpstr>
      <vt:lpstr>Traversals: Inconsistent View</vt:lpstr>
      <vt:lpstr>Traversal for Insert: Inconsistency</vt:lpstr>
      <vt:lpstr>Traversal Correctness Problem</vt:lpstr>
      <vt:lpstr>Traversal Correctness Problem</vt:lpstr>
      <vt:lpstr>Our Approach</vt:lpstr>
      <vt:lpstr>Local View Argument</vt:lpstr>
      <vt:lpstr>Local View Argument</vt:lpstr>
      <vt:lpstr>Local View Argument</vt:lpstr>
      <vt:lpstr>Local View Argument</vt:lpstr>
      <vt:lpstr>Requirement 1: Order on Memory</vt:lpstr>
      <vt:lpstr>Requirement 1: Temporal Acyclicity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Temporal Acyclicity</vt:lpstr>
      <vt:lpstr>Requirement 2: Preservation</vt:lpstr>
      <vt:lpstr>Requirement 2: Preservation</vt:lpstr>
      <vt:lpstr>Requirement 2: Preservation</vt:lpstr>
      <vt:lpstr>Requirement 2: Preservation</vt:lpstr>
      <vt:lpstr>Local View Argument</vt:lpstr>
      <vt:lpstr>Idea: Consistency from Ordering</vt:lpstr>
      <vt:lpstr>Summary</vt:lpstr>
      <vt:lpstr>PowerPoint Presentation</vt:lpstr>
      <vt:lpstr>Establishing the Conditions</vt:lpstr>
      <vt:lpstr>Some Related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yotam</dc:creator>
  <cp:lastModifiedBy>yotam</cp:lastModifiedBy>
  <cp:revision>849</cp:revision>
  <dcterms:created xsi:type="dcterms:W3CDTF">2017-12-26T11:24:50Z</dcterms:created>
  <dcterms:modified xsi:type="dcterms:W3CDTF">2018-10-16T12:41:43Z</dcterms:modified>
</cp:coreProperties>
</file>